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6" r:id="rId3"/>
    <p:sldId id="257" r:id="rId4"/>
    <p:sldId id="258" r:id="rId5"/>
    <p:sldId id="259" r:id="rId6"/>
    <p:sldId id="267"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ie 1 : le problème" id="{4F82DBA0-A14F-637B-6EC1-ED7E783B9512}">
          <p14:sldIdLst>
            <p14:sldId id="256"/>
            <p14:sldId id="266"/>
            <p14:sldId id="257"/>
            <p14:sldId id="258"/>
          </p14:sldIdLst>
        </p14:section>
        <p14:section name="Partie 2 : le système" id="{ACC16393-FE60-36E0-E613-7FAC0726038F}">
          <p14:sldIdLst>
            <p14:sldId id="259"/>
            <p14:sldId id="267"/>
            <p14:sldId id="260"/>
            <p14:sldId id="261"/>
          </p14:sldIdLst>
        </p14:section>
        <p14:section name="Partie 3 : démo et bilan" id="{5389AE4E-CA66-145B-32D6-E654F3E00205}">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0262B"/>
                </a:solidFill>
                <a:latin typeface="+mn-lt"/>
              </a:defRPr>
            </a:pPr>
            <a:r>
              <a:rPr lang="fr-FR" sz="1600" b="0" i="0" u="none" strike="noStrike">
                <a:solidFill>
                  <a:srgbClr val="10262B"/>
                </a:solidFill>
                <a:latin typeface="+mn-lt"/>
              </a:rPr>
              <a:t>Score de chaque docteur (le plus bas gagne)</a:t>
            </a:r>
          </a:p>
        </c:rich>
      </c:tx>
      <c:overlay val="0"/>
    </c:title>
    <c:autoTitleDeleted val="0"/>
    <c:plotArea>
      <c:layout/>
      <c:barChart>
        <c:barDir val="bar"/>
        <c:grouping val="clustered"/>
        <c:varyColors val="0"/>
        <c:ser>
          <c:idx val="0"/>
          <c:order val="0"/>
          <c:tx>
            <c:strRef>
              <c:f>Sheet1!$B$1</c:f>
              <c:strCache>
                <c:ptCount val="1"/>
                <c:pt idx="0">
                  <c:v>Score</c:v>
                </c:pt>
              </c:strCache>
            </c:strRef>
          </c:tx>
          <c:spPr>
            <a:solidFill>
              <a:srgbClr val="0E7C7B"/>
            </a:solidFill>
            <a:effectLst/>
          </c:spPr>
          <c:invertIfNegative val="0"/>
          <c:dPt>
            <c:idx val="0"/>
            <c:invertIfNegative val="0"/>
            <c:bubble3D val="0"/>
            <c:extLst>
              <c:ext xmlns:c16="http://schemas.microsoft.com/office/drawing/2014/chart" uri="{C3380CC4-5D6E-409C-BE32-E72D297353CC}">
                <c16:uniqueId val="{00000001-3261-488F-9727-6AB7CCF9E5C7}"/>
              </c:ext>
            </c:extLst>
          </c:dPt>
          <c:dPt>
            <c:idx val="1"/>
            <c:invertIfNegative val="0"/>
            <c:bubble3D val="0"/>
            <c:spPr>
              <a:solidFill>
                <a:srgbClr val="D6452A"/>
              </a:solidFill>
              <a:effectLst/>
            </c:spPr>
            <c:extLst>
              <c:ext xmlns:c16="http://schemas.microsoft.com/office/drawing/2014/chart" uri="{C3380CC4-5D6E-409C-BE32-E72D297353CC}">
                <c16:uniqueId val="{00000003-3261-488F-9727-6AB7CCF9E5C7}"/>
              </c:ext>
            </c:extLst>
          </c:dPt>
          <c:dPt>
            <c:idx val="2"/>
            <c:invertIfNegative val="0"/>
            <c:bubble3D val="0"/>
            <c:spPr>
              <a:solidFill>
                <a:srgbClr val="B6C4CC"/>
              </a:solidFill>
              <a:effectLst/>
            </c:spPr>
            <c:extLst>
              <c:ext xmlns:c16="http://schemas.microsoft.com/office/drawing/2014/chart" uri="{C3380CC4-5D6E-409C-BE32-E72D297353CC}">
                <c16:uniqueId val="{00000005-3261-488F-9727-6AB7CCF9E5C7}"/>
              </c:ext>
            </c:extLst>
          </c:dPt>
          <c:dPt>
            <c:idx val="3"/>
            <c:invertIfNegative val="0"/>
            <c:bubble3D val="0"/>
            <c:spPr>
              <a:solidFill>
                <a:srgbClr val="B6C4CC"/>
              </a:solidFill>
              <a:effectLst/>
            </c:spPr>
            <c:extLst>
              <c:ext xmlns:c16="http://schemas.microsoft.com/office/drawing/2014/chart" uri="{C3380CC4-5D6E-409C-BE32-E72D297353CC}">
                <c16:uniqueId val="{00000007-3261-488F-9727-6AB7CCF9E5C7}"/>
              </c:ext>
            </c:extLst>
          </c:dPt>
          <c:dPt>
            <c:idx val="4"/>
            <c:invertIfNegative val="0"/>
            <c:bubble3D val="0"/>
            <c:spPr>
              <a:solidFill>
                <a:srgbClr val="B6C4CC"/>
              </a:solidFill>
              <a:effectLst/>
            </c:spPr>
            <c:extLst>
              <c:ext xmlns:c16="http://schemas.microsoft.com/office/drawing/2014/chart" uri="{C3380CC4-5D6E-409C-BE32-E72D297353CC}">
                <c16:uniqueId val="{00000009-3261-488F-9727-6AB7CCF9E5C7}"/>
              </c:ext>
            </c:extLst>
          </c:dPt>
          <c:dPt>
            <c:idx val="5"/>
            <c:invertIfNegative val="0"/>
            <c:bubble3D val="0"/>
            <c:spPr>
              <a:solidFill>
                <a:srgbClr val="B6C4CC"/>
              </a:solidFill>
              <a:effectLst/>
            </c:spPr>
            <c:extLst>
              <c:ext xmlns:c16="http://schemas.microsoft.com/office/drawing/2014/chart" uri="{C3380CC4-5D6E-409C-BE32-E72D297353CC}">
                <c16:uniqueId val="{0000000B-3261-488F-9727-6AB7CCF9E5C7}"/>
              </c:ext>
            </c:extLst>
          </c:dPt>
          <c:dLbls>
            <c:numFmt formatCode="#,##0" sourceLinked="0"/>
            <c:spPr>
              <a:noFill/>
              <a:ln>
                <a:noFill/>
              </a:ln>
              <a:effectLst/>
            </c:spPr>
            <c:txPr>
              <a:bodyPr/>
              <a:lstStyle/>
              <a:p>
                <a:pPr>
                  <a:defRPr sz="1400" b="0" i="0" u="none" strike="noStrike">
                    <a:solidFill>
                      <a:srgbClr val="10262B"/>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Dr Alami</c:v>
                </c:pt>
                <c:pt idx="1">
                  <c:v>Dr Chafik</c:v>
                </c:pt>
                <c:pt idx="2">
                  <c:v>Dr Douiri</c:v>
                </c:pt>
                <c:pt idx="3">
                  <c:v>Dr Bennis</c:v>
                </c:pt>
                <c:pt idx="4">
                  <c:v>Dr Fassi</c:v>
                </c:pt>
                <c:pt idx="5">
                  <c:v>Dr Essaidi</c:v>
                </c:pt>
              </c:strCache>
            </c:strRef>
          </c:cat>
          <c:val>
            <c:numRef>
              <c:f>Sheet1!$B$2:$B$7</c:f>
              <c:numCache>
                <c:formatCode>General</c:formatCode>
                <c:ptCount val="6"/>
                <c:pt idx="0">
                  <c:v>50</c:v>
                </c:pt>
                <c:pt idx="1">
                  <c:v>75</c:v>
                </c:pt>
                <c:pt idx="2">
                  <c:v>125</c:v>
                </c:pt>
                <c:pt idx="3">
                  <c:v>125</c:v>
                </c:pt>
                <c:pt idx="4">
                  <c:v>150</c:v>
                </c:pt>
                <c:pt idx="5">
                  <c:v>200</c:v>
                </c:pt>
              </c:numCache>
            </c:numRef>
          </c:val>
          <c:extLst>
            <c:ext xmlns:c16="http://schemas.microsoft.com/office/drawing/2014/chart" uri="{C3380CC4-5D6E-409C-BE32-E72D297353CC}">
              <c16:uniqueId val="{0000000C-3261-488F-9727-6AB7CCF9E5C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0262B"/>
                </a:solidFill>
                <a:latin typeface="+mn-lt"/>
              </a:defRPr>
            </a:pPr>
            <a:endParaRPr lang="fr-FR"/>
          </a:p>
        </c:txPr>
        <c:crossAx val="2094734552"/>
        <c:crosses val="autoZero"/>
        <c:auto val="1"/>
        <c:lblAlgn val="ctr"/>
        <c:lblOffset val="100"/>
        <c:noMultiLvlLbl val="1"/>
      </c:catAx>
      <c:valAx>
        <c:axId val="2094734552"/>
        <c:scaling>
          <c:orientation val="minMax"/>
          <c:max val="24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580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(environ 30 secondes)
Bonjour à tous. Nous sommes trois, et nous allons vous présenter notre projet de master : un système multi-agents pour les urgences d'un hôpital.
Je commence par une question : aux urgences, le médecin le plus rapide est-il toujours le bon ? Gardez cette question en tête, la réponse arrive dans quelques minutes.
Organisation : je présente le problème et l'idée, le Présentateur 2 explique le système et lance un petit jeu, et le Présentateur 3 fait la démonstration en direct et conclut.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(environ 1 minute)  |  AXE : CONTEXTE
Commençons par le contexte. Un service d'urgences, c'est trois réalités en même temps.
Un : un flux continu de patients. Ils arrivent sans arrêt, à toute heure.
Deux : des gravités très différentes. Du cas bénin au cas critique, tous n'ont pas la même urgence.
Trois : un temps médical limité. Les docteurs ont des spécialités différentes et des files d'attente inégales.
Résultat : il faut décider vite, et décider bien. Cela nous amène à la problématique.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(environ 1 minute 30)
Imaginez un patient qui arrive avec une douleur thoracique. L'infirmier le classe en urgence 4 sur 5.
Il y a six docteurs : un généraliste, deux cardiologues, un traumatologue, un neurologue et un pneumologue. Chacun a une spécialité différente, un délai différent et une file d'attente différente. Ici vous en voyez quatre : le généraliste peut le prendre dans 5 minutes, le cardiologue dans 10.
À qui envoyer ce patient ?
Le point important : chaque docteur ne connaît que sa propre situation. Personne n'a une vue complète de l'hôpital.
Transition : c'est exactement pour cette raison que nous avons choisi une approche multi-agents.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(environ 1 minute 30)
Pourquoi ne pas faire un grand programme central qui décide pour tout le monde ? Parce qu'il devrait connaître l'état de tous les docteurs en permanence, ce qui n'est pas réaliste.
Trois raisons.
Un : l'information est locale. Chaque docteur est le seul à connaître sa propre file d'attente.
Deux : l'autonomie. Un docteur décide lui-même d'accepter ou de refuser selon sa charge de travail. On ne lui impose rien.
Trois : la flexibilité. Le nombre de docteurs vient d'un fichier. Si on ajoute un docteur, on modifie le fichier et les agents se découvrent grâce à l'annuaire DF, qui fonctionne comme des pages jaunes.
Transition : mon collègue (Présentateur 2) va vous montrer comment ces agents travaillent ensemble.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2 (environ 1 minute 30)
Notre système repose sur trois types d'agents.
Le Patient arrive avec un symptôme et envoie sa demande.
L'Infirmier est le cerveau du système : il fait le triage, c'est-à-dire qu'il donne un niveau d'urgence de 1 à 5 et trouve la spécialité nécessaire. Ensuite il cherche les docteurs et choisit le meilleur.
Le Docteur publie sa spécialité, répond aux appels de l'infirmier et décide selon sa charge.
Pour que l'infirmier retrouve les docteurs sans connaître leurs noms à l'avance, on utilise l'annuaire DF, qui fonctionne comme les pages jaunes. Chaque type d'agent vit dans son propre conteneur JADE.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2 (environ 1 minute 30)
Les agents négocient avec un protocole qui s'appelle Contract Net. L'idée vient des appels d'offres.
Temps 1 : l'infirmier envoie un CFP, un appel à propositions, à tous les docteurs trouvés dans l'annuaire.
Temps 2 : chaque docteur répond. Soit il propose un délai, soit il refuse s'il est saturé. Il a le droit de refuser, c'est ce qui fait que ce n'est pas un simple ordre.
Temps 3 : l'infirmier calcule un score pour chaque proposition. Il accepte la meilleure et refuse les autres.
Temps 4 : le docteur confirme, et l'infirmier prévient le patient.
Détail technique si on vous le demande : chaque patient reçoit un numéro de dossier, ce qui permet de traiter plusieurs patients en parallèle sans mélanger les messages.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2 (environ 2 minutes)
Maintenant, à vous de jouer. Je cherche quatre volontaires : un infirmier et trois docteurs. (Donner à chaque docteur une carte avec sa spécialité et son délai.)
Le cas : un patient avec une douleur thoracique, urgence 4, il faut un cardiologue. Les trois docteurs ont une file vide.
Le poids du délai est 1 + urgence, donc 5. Laissez la salle calculer.
Réponses à garder pour vous, SANS les dire :
- Docteur A (généraliste, 5 min) : 5 × 5 = 25, plus 50 de pénalité car il n'est pas cardiologue, donc 75.
- Docteur B (cardiologue, 10 min) : 5 × 10 = 50.
- Docteur C (cardiologue, 25 min) : 5 × 25 = 125.
Laissez la salle voter, puis passez la parole au Présentateur 3 pour la révélation avec les vrais résultats du programme.
Conseil : préparez trois petites cartes en papier avant de commencer.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3 (environ 1 minute 30)
Voici les vrais résultats de notre programme, pour ce même cas.
Le docteur Alami, cardiologue, propose 10 minutes : score de 50. C'est le meilleur.
Le docteur Chafik, généraliste, ne propose que 5 minutes, il est donc le plus rapide. Mais il n'est pas cardiologue : il prend 50 points de pénalité et finit à 75. Le plus rapide a perdu.
(Revenir aux résultats du jeu : Docteur A = Chafik = 75, Docteur B = Alami = 50, Docteur C = Bennis = 125.)
Et c'est voulu. Le poids du délai est 1 + urgence : plus le cas est grave, plus chaque minute compte. Mais la pénalité de spécialité ne grandit pas, donc pour un cas critique, un docteur très rapide peut quand même passer devant un spécialiste moins disponible.
Autre point : la pénalité n'est pas infinie. Si aucun cardiologue n'est libre, un autre docteur peut quand même prendre le patient. C'est un choix volontaire.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3 (environ 2 minutes)
Maintenant, on passe au vrai programme.
AVANT LA PRÉSENTATION : lancez la classe LancerTout dans Eclipse et vérifiez que la fenêtre de l'hôpital et la fenêtre JADE sont ouvertes. Gardez aussi une capture d'écran en plan B si l'ordinateur plante.
Étape 1 : je choisis un symptôme dans la liste, par exemple « douleur thoracique ».
Étape 2 : je clique sur « Envoyer aux urgences ». Cela crée un nouvel agent Patient.
Étape 3 : on regarde le journal. On voit le CFP partir, les docteurs répondre, le score de chaque proposition, puis le gagnant. Tout ce que je viens d'expliquer se passe en quelques secondes.
À droite, un extrait réel du journal : l'infirmier envoie le CFP à six docteurs, deux d'entre eux répondent, le meilleur score est celui du docteur Alami, il est accepté, et le patient reçoit sa confirmation.
Bonus si le temps le permet : demandez à la salle de choisir un autre symptôme, par exemple « fracture du bras », et regardez quel docteur gagne.
Astuce : avant la démo, vérifiez que le délai annoncé au patient est bien le même que celui proposé par le docteur.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3 (environ 1 minute)
Nous préférons être honnêtes sur les limites.
Le délai d'attente des propositions est fixe, 3 secondes, quel que soit le cas. Le triage repose sur des mots-clés : un symptôme que nous n'avons pas prévu reçoit une urgence de 1. Et si le docteur choisi tombe en panne après avoir été accepté, le patient reçoit un échec au lieu d'une nouvelle négociation.
Pour la suite : une négociation en plusieurs tours, un agent superviseur qui relance les négociations échouées, et un triage par apprentissage automatique entraîné sur des données médicales.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PRÉSENTATEURS (environ 30 secondes, puis les questions)
Pour résumer : des agents autonomes qui ne connaissent que leur propre situation, une négociation Contract Net pour se mettre d'accord, et un choix qui s'adapte à l'urgence du patient.
Retour à notre question du début : aux urgences, le plus rapide n'est pas toujours le bon.
Merci, nous sommes prêts pour vos questions.
QUESTIONS PROBABLES ET RÉPONSES COURTES
- Pourquoi ne pas faire un programme central ? Parce que chaque docteur est le seul à connaître sa file d'attente et à décider s'il accepte. Le système reste aussi flexible : on ajoute un docteur sans toucher au code.
- Pourquoi envoyer le CFP à tous les docteurs et pas seulement aux spécialistes ? Choix volontaire : si aucun spécialiste n'est libre, un autre docteur peut quand même prendre le patient.
- Que se passe-t-il si tous les docteurs refusent ? L'infirmier envoie un message d'échec au patient, au lieu de le laisser attendre sans réponse.
- Comment évitez-vous de mélanger deux patients ? Chaque patient a un numéro de dossier utilisé comme identifiant de conversation.
- Pourquoi le poids du délai augmente avec l'urgence ? Plus le cas est grave, plus chaque minute compte.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097280"/>
            <a:ext cx="6675120" cy="24688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749040"/>
            <a:ext cx="6675120" cy="100584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5669280" y="6035040"/>
            <a:ext cx="5303520" cy="365760"/>
          </a:xfrm>
          <a:prstGeom prst="rect">
            <a:avLst/>
          </a:prstGeom>
          <a:noFill/>
          <a:ln/>
        </p:spPr>
        <p:txBody>
          <a:bodyPr wrap="square" lIns="0" tIns="0" rIns="0" bIns="0" rtlCol="0" anchor="ctr"/>
          <a:lstStyle/>
          <a:p>
            <a:pPr marL="0" indent="0" algn="r">
              <a:buNone/>
            </a:pPr>
            <a:r>
              <a:rPr lang="en-US" sz="1100" dirty="0">
                <a:solidFill>
                  <a:schemeClr val="accent5"/>
                </a:solidFill>
              </a:rPr>
              <a:t>SMA Hôpital · Master IAA · FPO</a:t>
            </a:r>
            <a:endParaRPr lang="en-US" sz="11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ERMETUR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914400"/>
            <a:ext cx="1069848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2788920"/>
            <a:ext cx="10698480" cy="64008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CONTENU">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144000" cy="274320"/>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3" name="Text 0"/>
          <p:cNvSpPr>
            <a:spLocks noGrp="1"/>
          </p:cNvSpPr>
          <p:nvPr>
            <p:ph type="title" idx="101" hasCustomPrompt="1"/>
          </p:nvPr>
        </p:nvSpPr>
        <p:spPr>
          <a:xfrm>
            <a:off x="548640" y="548640"/>
            <a:ext cx="11091672" cy="77724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4" name="Text 0"/>
          <p:cNvSpPr/>
          <p:nvPr/>
        </p:nvSpPr>
        <p:spPr>
          <a:xfrm>
            <a:off x="5669280" y="6035040"/>
            <a:ext cx="5303520" cy="365760"/>
          </a:xfrm>
          <a:prstGeom prst="rect">
            <a:avLst/>
          </a:prstGeom>
          <a:noFill/>
          <a:ln/>
        </p:spPr>
        <p:txBody>
          <a:bodyPr wrap="square" lIns="0" tIns="0" rIns="0" bIns="0" rtlCol="0" anchor="ctr"/>
          <a:lstStyle/>
          <a:p>
            <a:pPr marL="0" indent="0" algn="r">
              <a:buNone/>
            </a:pPr>
            <a:r>
              <a:rPr lang="en-US" sz="1100" dirty="0">
                <a:solidFill>
                  <a:schemeClr val="accent5"/>
                </a:solidFill>
              </a:rPr>
              <a:t>SMA Hôpital · Master IAA · FPO</a:t>
            </a:r>
            <a:endParaRPr lang="en-US" sz="11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9194272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8349" y="1495453"/>
            <a:ext cx="7086600" cy="1371600"/>
          </a:xfrm>
          <a:prstGeom prst="rect">
            <a:avLst/>
          </a:prstGeom>
          <a:noFill/>
          <a:ln/>
        </p:spPr>
        <p:txBody>
          <a:bodyPr wrap="square" lIns="0" tIns="0" rIns="0" bIns="0" rtlCol="0" anchor="b"/>
          <a:lstStyle/>
          <a:p>
            <a:pPr marL="0" indent="0" algn="l">
              <a:buNone/>
            </a:pPr>
            <a:r>
              <a:rPr lang="fr-FR" sz="4000" b="1" i="0" dirty="0" err="1">
                <a:solidFill>
                  <a:srgbClr val="FFFFFF"/>
                </a:solidFill>
                <a:effectLst/>
                <a:latin typeface="Plus Jakarta Sans"/>
              </a:rPr>
              <a:t>HopitalSMA</a:t>
            </a:r>
            <a:r>
              <a:rPr lang="fr-FR" sz="4000" b="1" i="0" dirty="0">
                <a:solidFill>
                  <a:srgbClr val="FFFFFF"/>
                </a:solidFill>
                <a:effectLst/>
                <a:latin typeface="Plus Jakarta Sans"/>
              </a:rPr>
              <a:t> : Gestion Intelligente des Urgences</a:t>
            </a:r>
            <a:endParaRPr lang="en-US" sz="4000" dirty="0"/>
          </a:p>
        </p:txBody>
      </p:sp>
      <p:sp>
        <p:nvSpPr>
          <p:cNvPr id="3" name="Text 0"/>
          <p:cNvSpPr>
            <a:spLocks noGrp="1"/>
          </p:cNvSpPr>
          <p:nvPr>
            <p:ph type="body" idx="101" hasCustomPrompt="1"/>
          </p:nvPr>
        </p:nvSpPr>
        <p:spPr>
          <a:xfrm>
            <a:off x="669196" y="2942969"/>
            <a:ext cx="6675120" cy="1005840"/>
          </a:xfrm>
          <a:prstGeom prst="rect">
            <a:avLst/>
          </a:prstGeom>
          <a:noFill/>
          <a:ln/>
        </p:spPr>
        <p:txBody>
          <a:bodyPr wrap="square" lIns="0" tIns="0" rIns="0" bIns="0" rtlCol="0" anchor="t"/>
          <a:lstStyle/>
          <a:p>
            <a:pPr marL="0" indent="0" algn="l">
              <a:buNone/>
            </a:pPr>
            <a:r>
              <a:rPr lang="en-US" sz="1800" dirty="0">
                <a:solidFill>
                  <a:schemeClr val="bg2"/>
                </a:solidFill>
              </a:rPr>
              <a:t>Un système multi-agents sous JADE qui oriente chaque patient vers le bon docteur</a:t>
            </a:r>
            <a:endParaRPr lang="en-US" sz="1800" dirty="0"/>
          </a:p>
        </p:txBody>
      </p:sp>
      <p:sp>
        <p:nvSpPr>
          <p:cNvPr id="4" name="Panneau des agents"/>
          <p:cNvSpPr/>
          <p:nvPr/>
        </p:nvSpPr>
        <p:spPr>
          <a:xfrm>
            <a:off x="7955280" y="914400"/>
            <a:ext cx="3657600" cy="4663440"/>
          </a:xfrm>
          <a:prstGeom prst="roundRect">
            <a:avLst>
              <a:gd name="adj" fmla="val 3750"/>
            </a:avLst>
          </a:prstGeom>
          <a:solidFill>
            <a:schemeClr val="accent1"/>
          </a:solidFill>
          <a:ln/>
        </p:spPr>
      </p:sp>
      <p:sp>
        <p:nvSpPr>
          <p:cNvPr id="5" name="Cercle Patient"/>
          <p:cNvSpPr/>
          <p:nvPr/>
        </p:nvSpPr>
        <p:spPr>
          <a:xfrm>
            <a:off x="8321040" y="1280160"/>
            <a:ext cx="914400" cy="914400"/>
          </a:xfrm>
          <a:prstGeom prst="ellipse">
            <a:avLst/>
          </a:prstGeom>
          <a:solidFill>
            <a:schemeClr val="bg1"/>
          </a:solidFill>
          <a:ln/>
        </p:spPr>
      </p:sp>
      <p:pic>
        <p:nvPicPr>
          <p:cNvPr id="6" name="Icône Patient" descr="Patient"/>
          <p:cNvPicPr>
            <a:picLocks noChangeAspect="1"/>
          </p:cNvPicPr>
          <p:nvPr/>
        </p:nvPicPr>
        <p:blipFill>
          <a:blip r:embed="rId3"/>
          <a:stretch>
            <a:fillRect/>
          </a:stretch>
        </p:blipFill>
        <p:spPr>
          <a:xfrm>
            <a:off x="8549640" y="1508760"/>
            <a:ext cx="457200" cy="457200"/>
          </a:xfrm>
          <a:prstGeom prst="rect">
            <a:avLst/>
          </a:prstGeom>
        </p:spPr>
      </p:pic>
      <p:sp>
        <p:nvSpPr>
          <p:cNvPr id="7" name="Libellé Patient"/>
          <p:cNvSpPr txBox="1"/>
          <p:nvPr/>
        </p:nvSpPr>
        <p:spPr>
          <a:xfrm>
            <a:off x="9464040" y="1280160"/>
            <a:ext cx="2011680" cy="914400"/>
          </a:xfrm>
          <a:prstGeom prst="rect">
            <a:avLst/>
          </a:prstGeom>
          <a:noFill/>
          <a:ln/>
        </p:spPr>
        <p:txBody>
          <a:bodyPr wrap="square" lIns="0" tIns="0" rIns="0" bIns="0" rtlCol="0" anchor="ctr"/>
          <a:lstStyle/>
          <a:p>
            <a:pPr marL="0" indent="0">
              <a:buNone/>
            </a:pPr>
            <a:r>
              <a:rPr lang="en-US" sz="2200" b="1" dirty="0">
                <a:solidFill>
                  <a:schemeClr val="bg1"/>
                </a:solidFill>
              </a:rPr>
              <a:t>Patient</a:t>
            </a:r>
            <a:endParaRPr lang="en-US" sz="2200" dirty="0"/>
          </a:p>
        </p:txBody>
      </p:sp>
      <p:sp>
        <p:nvSpPr>
          <p:cNvPr id="8" name="Cercle Infirmier"/>
          <p:cNvSpPr/>
          <p:nvPr/>
        </p:nvSpPr>
        <p:spPr>
          <a:xfrm>
            <a:off x="8321040" y="2788920"/>
            <a:ext cx="914400" cy="914400"/>
          </a:xfrm>
          <a:prstGeom prst="ellipse">
            <a:avLst/>
          </a:prstGeom>
          <a:solidFill>
            <a:schemeClr val="bg1"/>
          </a:solidFill>
          <a:ln/>
        </p:spPr>
      </p:sp>
      <p:pic>
        <p:nvPicPr>
          <p:cNvPr id="9" name="Icône Infirmier" descr="Infirmier"/>
          <p:cNvPicPr>
            <a:picLocks noChangeAspect="1"/>
          </p:cNvPicPr>
          <p:nvPr/>
        </p:nvPicPr>
        <p:blipFill>
          <a:blip r:embed="rId4"/>
          <a:stretch>
            <a:fillRect/>
          </a:stretch>
        </p:blipFill>
        <p:spPr>
          <a:xfrm>
            <a:off x="8549640" y="3017520"/>
            <a:ext cx="457200" cy="457200"/>
          </a:xfrm>
          <a:prstGeom prst="rect">
            <a:avLst/>
          </a:prstGeom>
        </p:spPr>
      </p:pic>
      <p:sp>
        <p:nvSpPr>
          <p:cNvPr id="10" name="Libellé Infirmier"/>
          <p:cNvSpPr txBox="1"/>
          <p:nvPr/>
        </p:nvSpPr>
        <p:spPr>
          <a:xfrm>
            <a:off x="9464040" y="2788920"/>
            <a:ext cx="2011680" cy="914400"/>
          </a:xfrm>
          <a:prstGeom prst="rect">
            <a:avLst/>
          </a:prstGeom>
          <a:noFill/>
          <a:ln/>
        </p:spPr>
        <p:txBody>
          <a:bodyPr wrap="square" lIns="0" tIns="0" rIns="0" bIns="0" rtlCol="0" anchor="ctr"/>
          <a:lstStyle/>
          <a:p>
            <a:pPr marL="0" indent="0">
              <a:buNone/>
            </a:pPr>
            <a:r>
              <a:rPr lang="en-US" sz="2200" b="1" dirty="0">
                <a:solidFill>
                  <a:schemeClr val="bg1"/>
                </a:solidFill>
              </a:rPr>
              <a:t>Infirmier</a:t>
            </a:r>
            <a:endParaRPr lang="en-US" sz="2200" dirty="0"/>
          </a:p>
        </p:txBody>
      </p:sp>
      <p:sp>
        <p:nvSpPr>
          <p:cNvPr id="11" name="Cercle Docteurs"/>
          <p:cNvSpPr/>
          <p:nvPr/>
        </p:nvSpPr>
        <p:spPr>
          <a:xfrm>
            <a:off x="8321040" y="4297680"/>
            <a:ext cx="914400" cy="914400"/>
          </a:xfrm>
          <a:prstGeom prst="ellipse">
            <a:avLst/>
          </a:prstGeom>
          <a:solidFill>
            <a:schemeClr val="bg1"/>
          </a:solidFill>
          <a:ln/>
        </p:spPr>
      </p:sp>
      <p:pic>
        <p:nvPicPr>
          <p:cNvPr id="12" name="Icône Docteurs" descr="Docteurs"/>
          <p:cNvPicPr>
            <a:picLocks noChangeAspect="1"/>
          </p:cNvPicPr>
          <p:nvPr/>
        </p:nvPicPr>
        <p:blipFill>
          <a:blip r:embed="rId5"/>
          <a:stretch>
            <a:fillRect/>
          </a:stretch>
        </p:blipFill>
        <p:spPr>
          <a:xfrm>
            <a:off x="8549640" y="4526280"/>
            <a:ext cx="457200" cy="457200"/>
          </a:xfrm>
          <a:prstGeom prst="rect">
            <a:avLst/>
          </a:prstGeom>
        </p:spPr>
      </p:pic>
      <p:sp>
        <p:nvSpPr>
          <p:cNvPr id="13" name="Libellé Docteurs"/>
          <p:cNvSpPr txBox="1"/>
          <p:nvPr/>
        </p:nvSpPr>
        <p:spPr>
          <a:xfrm>
            <a:off x="9464040" y="4297680"/>
            <a:ext cx="2011680" cy="914400"/>
          </a:xfrm>
          <a:prstGeom prst="rect">
            <a:avLst/>
          </a:prstGeom>
          <a:noFill/>
          <a:ln/>
        </p:spPr>
        <p:txBody>
          <a:bodyPr wrap="square" lIns="0" tIns="0" rIns="0" bIns="0" rtlCol="0" anchor="ctr"/>
          <a:lstStyle/>
          <a:p>
            <a:pPr marL="0" indent="0">
              <a:buNone/>
            </a:pPr>
            <a:r>
              <a:rPr lang="en-US" sz="2200" b="1" dirty="0">
                <a:solidFill>
                  <a:schemeClr val="bg1"/>
                </a:solidFill>
              </a:rPr>
              <a:t>Docteurs</a:t>
            </a:r>
            <a:endParaRPr lang="en-US" sz="2200" dirty="0"/>
          </a:p>
        </p:txBody>
      </p:sp>
      <p:sp>
        <p:nvSpPr>
          <p:cNvPr id="14" name="Flèche 1"/>
          <p:cNvSpPr/>
          <p:nvPr/>
        </p:nvSpPr>
        <p:spPr>
          <a:xfrm>
            <a:off x="8778240" y="2240280"/>
            <a:ext cx="0" cy="502920"/>
          </a:xfrm>
          <a:prstGeom prst="line">
            <a:avLst/>
          </a:prstGeom>
          <a:noFill/>
          <a:ln w="31750">
            <a:solidFill>
              <a:schemeClr val="bg2"/>
            </a:solidFill>
            <a:prstDash val="solid"/>
            <a:tailEnd type="triangle"/>
          </a:ln>
        </p:spPr>
      </p:sp>
      <p:sp>
        <p:nvSpPr>
          <p:cNvPr id="15" name="Flèche 2"/>
          <p:cNvSpPr/>
          <p:nvPr/>
        </p:nvSpPr>
        <p:spPr>
          <a:xfrm>
            <a:off x="8778240" y="3749040"/>
            <a:ext cx="0" cy="502920"/>
          </a:xfrm>
          <a:prstGeom prst="line">
            <a:avLst/>
          </a:prstGeom>
          <a:noFill/>
          <a:ln w="31750">
            <a:solidFill>
              <a:schemeClr val="bg2"/>
            </a:solidFill>
            <a:prstDash val="solid"/>
            <a:tailEnd type="triangle"/>
          </a:ln>
        </p:spPr>
      </p:sp>
      <p:sp>
        <p:nvSpPr>
          <p:cNvPr id="16" name="Puce 1"/>
          <p:cNvSpPr txBox="1"/>
          <p:nvPr/>
        </p:nvSpPr>
        <p:spPr>
          <a:xfrm>
            <a:off x="731520" y="5212080"/>
            <a:ext cx="384048" cy="384048"/>
          </a:xfrm>
          <a:prstGeom prst="ellipse">
            <a:avLst/>
          </a:prstGeom>
          <a:solidFill>
            <a:schemeClr val="bg1"/>
          </a:solidFill>
          <a:ln/>
        </p:spPr>
        <p:txBody>
          <a:bodyPr wrap="square" lIns="0" tIns="0" rIns="0" bIns="0" rtlCol="0" anchor="ctr"/>
          <a:lstStyle/>
          <a:p>
            <a:pPr marL="0" indent="0" algn="ctr">
              <a:buNone/>
            </a:pPr>
            <a:r>
              <a:rPr lang="en-US" sz="1400" b="1" dirty="0">
                <a:solidFill>
                  <a:schemeClr val="tx2"/>
                </a:solidFill>
              </a:rPr>
              <a:t>1</a:t>
            </a:r>
            <a:endParaRPr lang="en-US" sz="1400" dirty="0"/>
          </a:p>
        </p:txBody>
      </p:sp>
      <p:sp>
        <p:nvSpPr>
          <p:cNvPr id="17" name="Présentateur 1"/>
          <p:cNvSpPr txBox="1"/>
          <p:nvPr/>
        </p:nvSpPr>
        <p:spPr>
          <a:xfrm>
            <a:off x="1234440" y="5212080"/>
            <a:ext cx="1865447" cy="384048"/>
          </a:xfrm>
          <a:prstGeom prst="rect">
            <a:avLst/>
          </a:prstGeom>
          <a:noFill/>
          <a:ln/>
        </p:spPr>
        <p:txBody>
          <a:bodyPr wrap="square" lIns="0" tIns="0" rIns="0" bIns="0" rtlCol="0" anchor="ctr"/>
          <a:lstStyle/>
          <a:p>
            <a:pPr>
              <a:lnSpc>
                <a:spcPct val="170000"/>
              </a:lnSpc>
            </a:pPr>
            <a:r>
              <a:rPr lang="fi-FI" sz="1400" dirty="0">
                <a:solidFill>
                  <a:schemeClr val="bg1"/>
                </a:solidFill>
                <a:ea typeface="Inter 18pt SemiBold" panose="02000503000000020004" pitchFamily="2" charset="0"/>
              </a:rPr>
              <a:t>ARCHAKI MOHAMED</a:t>
            </a:r>
          </a:p>
        </p:txBody>
      </p:sp>
      <p:sp>
        <p:nvSpPr>
          <p:cNvPr id="18" name="Puce 2"/>
          <p:cNvSpPr txBox="1"/>
          <p:nvPr/>
        </p:nvSpPr>
        <p:spPr>
          <a:xfrm>
            <a:off x="2926080" y="5212080"/>
            <a:ext cx="384048" cy="384048"/>
          </a:xfrm>
          <a:prstGeom prst="ellipse">
            <a:avLst/>
          </a:prstGeom>
          <a:solidFill>
            <a:schemeClr val="bg1"/>
          </a:solidFill>
          <a:ln/>
        </p:spPr>
        <p:txBody>
          <a:bodyPr wrap="square" lIns="0" tIns="0" rIns="0" bIns="0" rtlCol="0" anchor="ctr"/>
          <a:lstStyle/>
          <a:p>
            <a:pPr marL="0" indent="0" algn="ctr">
              <a:buNone/>
            </a:pPr>
            <a:r>
              <a:rPr lang="en-US" sz="1400" b="1" dirty="0">
                <a:solidFill>
                  <a:schemeClr val="tx2"/>
                </a:solidFill>
              </a:rPr>
              <a:t>2</a:t>
            </a:r>
            <a:endParaRPr lang="en-US" sz="1400" dirty="0"/>
          </a:p>
        </p:txBody>
      </p:sp>
      <p:sp>
        <p:nvSpPr>
          <p:cNvPr id="19" name="Présentateur 2"/>
          <p:cNvSpPr txBox="1"/>
          <p:nvPr/>
        </p:nvSpPr>
        <p:spPr>
          <a:xfrm>
            <a:off x="3429000" y="5212080"/>
            <a:ext cx="1554480" cy="384048"/>
          </a:xfrm>
          <a:prstGeom prst="rect">
            <a:avLst/>
          </a:prstGeom>
          <a:noFill/>
          <a:ln/>
        </p:spPr>
        <p:txBody>
          <a:bodyPr wrap="square" lIns="0" tIns="0" rIns="0" bIns="0" rtlCol="0" anchor="ctr"/>
          <a:lstStyle/>
          <a:p>
            <a:pPr>
              <a:lnSpc>
                <a:spcPct val="170000"/>
              </a:lnSpc>
            </a:pPr>
            <a:r>
              <a:rPr lang="fi-FI" sz="1400" dirty="0">
                <a:solidFill>
                  <a:schemeClr val="bg1"/>
                </a:solidFill>
                <a:ea typeface="Inter 18pt SemiBold" panose="02000503000000020004" pitchFamily="2" charset="0"/>
              </a:rPr>
              <a:t>EL BLAIDI OTHMAN </a:t>
            </a:r>
          </a:p>
        </p:txBody>
      </p:sp>
      <p:sp>
        <p:nvSpPr>
          <p:cNvPr id="20" name="Puce 3"/>
          <p:cNvSpPr txBox="1"/>
          <p:nvPr/>
        </p:nvSpPr>
        <p:spPr>
          <a:xfrm>
            <a:off x="5120640" y="5212080"/>
            <a:ext cx="384048" cy="384048"/>
          </a:xfrm>
          <a:prstGeom prst="ellipse">
            <a:avLst/>
          </a:prstGeom>
          <a:solidFill>
            <a:schemeClr val="bg1"/>
          </a:solidFill>
          <a:ln/>
        </p:spPr>
        <p:txBody>
          <a:bodyPr wrap="square" lIns="0" tIns="0" rIns="0" bIns="0" rtlCol="0" anchor="ctr"/>
          <a:lstStyle/>
          <a:p>
            <a:pPr marL="0" indent="0" algn="ctr">
              <a:buNone/>
            </a:pPr>
            <a:r>
              <a:rPr lang="en-US" sz="1400" b="1" dirty="0">
                <a:solidFill>
                  <a:schemeClr val="tx2"/>
                </a:solidFill>
              </a:rPr>
              <a:t>3</a:t>
            </a:r>
            <a:endParaRPr lang="en-US" sz="1400" dirty="0"/>
          </a:p>
        </p:txBody>
      </p:sp>
      <p:sp>
        <p:nvSpPr>
          <p:cNvPr id="21" name="Présentateur 3"/>
          <p:cNvSpPr txBox="1"/>
          <p:nvPr/>
        </p:nvSpPr>
        <p:spPr>
          <a:xfrm>
            <a:off x="5623560" y="5212080"/>
            <a:ext cx="1554480" cy="384048"/>
          </a:xfrm>
          <a:prstGeom prst="rect">
            <a:avLst/>
          </a:prstGeom>
          <a:noFill/>
          <a:ln/>
        </p:spPr>
        <p:txBody>
          <a:bodyPr wrap="square" lIns="0" tIns="0" rIns="0" bIns="0" rtlCol="0" anchor="ctr"/>
          <a:lstStyle/>
          <a:p>
            <a:pPr>
              <a:lnSpc>
                <a:spcPct val="170000"/>
              </a:lnSpc>
            </a:pPr>
            <a:r>
              <a:rPr lang="fi-FI" sz="1400" dirty="0">
                <a:solidFill>
                  <a:schemeClr val="bg1"/>
                </a:solidFill>
                <a:latin typeface="Inter 18pt SemiBold" panose="02000503000000020004" pitchFamily="2" charset="0"/>
                <a:ea typeface="Inter 18pt SemiBold" panose="02000503000000020004" pitchFamily="2" charset="0"/>
              </a:rPr>
              <a:t>HAMZA OUKHACHA </a:t>
            </a:r>
            <a:endParaRPr lang="fr-FR" sz="1400" dirty="0">
              <a:solidFill>
                <a:schemeClr val="bg1"/>
              </a:solidFill>
              <a:latin typeface="Inter 18pt SemiBold" panose="02000503000000020004" pitchFamily="2" charset="0"/>
              <a:ea typeface="Inter 18pt SemiBold" panose="02000503000000020004" pitchFamily="2" charset="0"/>
            </a:endParaRPr>
          </a:p>
        </p:txBody>
      </p:sp>
      <p:sp>
        <p:nvSpPr>
          <p:cNvPr id="22" name="Crédits"/>
          <p:cNvSpPr txBox="1"/>
          <p:nvPr/>
        </p:nvSpPr>
        <p:spPr>
          <a:xfrm>
            <a:off x="731520" y="5989320"/>
            <a:ext cx="10515600" cy="365760"/>
          </a:xfrm>
          <a:prstGeom prst="rect">
            <a:avLst/>
          </a:prstGeom>
          <a:noFill/>
          <a:ln/>
        </p:spPr>
        <p:txBody>
          <a:bodyPr wrap="square" lIns="0" tIns="0" rIns="0" bIns="0" rtlCol="0" anchor="ctr"/>
          <a:lstStyle/>
          <a:p>
            <a:pPr marL="0" indent="0">
              <a:buNone/>
            </a:pPr>
            <a:r>
              <a:rPr lang="en-US" sz="1200" dirty="0">
                <a:solidFill>
                  <a:schemeClr val="bg2"/>
                </a:solidFill>
              </a:rPr>
              <a:t>Master IAA · Faculté Polydisciplinaire de </a:t>
            </a:r>
            <a:r>
              <a:rPr lang="en-US" sz="1200" dirty="0" err="1">
                <a:solidFill>
                  <a:schemeClr val="bg2"/>
                </a:solidFill>
              </a:rPr>
              <a:t>Ouarzazate</a:t>
            </a:r>
            <a:endParaRPr lang="en-US" sz="1200" dirty="0"/>
          </a:p>
        </p:txBody>
      </p:sp>
      <p:sp>
        <p:nvSpPr>
          <p:cNvPr id="23" name="TextBox 22">
            <a:extLst>
              <a:ext uri="{FF2B5EF4-FFF2-40B4-BE49-F238E27FC236}">
                <a16:creationId xmlns:a16="http://schemas.microsoft.com/office/drawing/2014/main" id="{B3328E2D-4FE5-8D9F-DC95-9FD09468F1D5}"/>
              </a:ext>
            </a:extLst>
          </p:cNvPr>
          <p:cNvSpPr txBox="1"/>
          <p:nvPr/>
        </p:nvSpPr>
        <p:spPr>
          <a:xfrm>
            <a:off x="594360" y="4526280"/>
            <a:ext cx="1865447" cy="461665"/>
          </a:xfrm>
          <a:prstGeom prst="rect">
            <a:avLst/>
          </a:prstGeom>
          <a:noFill/>
        </p:spPr>
        <p:txBody>
          <a:bodyPr wrap="none" rtlCol="0">
            <a:spAutoFit/>
          </a:bodyPr>
          <a:lstStyle/>
          <a:p>
            <a:r>
              <a:rPr lang="fi-FI" sz="2400" dirty="0">
                <a:solidFill>
                  <a:schemeClr val="bg1"/>
                </a:solidFill>
                <a:ea typeface="Inter 18pt SemiBold" panose="02000503000000020004" pitchFamily="2" charset="0"/>
              </a:rPr>
              <a:t>Realiser Par : </a:t>
            </a:r>
            <a:endParaRPr lang="fr-FR" sz="2400" dirty="0">
              <a:solidFill>
                <a:schemeClr val="bg1"/>
              </a:solidFill>
              <a:ea typeface="Inter 18pt SemiBold" panose="02000503000000020004" pitchFamily="2" charset="0"/>
            </a:endParaRPr>
          </a:p>
        </p:txBody>
      </p:sp>
      <p:sp>
        <p:nvSpPr>
          <p:cNvPr id="25" name="TextBox 24">
            <a:extLst>
              <a:ext uri="{FF2B5EF4-FFF2-40B4-BE49-F238E27FC236}">
                <a16:creationId xmlns:a16="http://schemas.microsoft.com/office/drawing/2014/main" id="{DA81CAF0-CC58-7324-F940-BF3598E6D7D6}"/>
              </a:ext>
            </a:extLst>
          </p:cNvPr>
          <p:cNvSpPr txBox="1"/>
          <p:nvPr/>
        </p:nvSpPr>
        <p:spPr>
          <a:xfrm>
            <a:off x="6893299" y="5943600"/>
            <a:ext cx="4227082" cy="400110"/>
          </a:xfrm>
          <a:prstGeom prst="rect">
            <a:avLst/>
          </a:prstGeom>
          <a:noFill/>
        </p:spPr>
        <p:txBody>
          <a:bodyPr wrap="square" rtlCol="0">
            <a:spAutoFit/>
          </a:bodyPr>
          <a:lstStyle/>
          <a:p>
            <a:r>
              <a:rPr lang="fi-FI" sz="2000" b="1" dirty="0">
                <a:solidFill>
                  <a:schemeClr val="bg1"/>
                </a:solidFill>
                <a:ea typeface="Inter 18pt SemiBold" panose="02000503000000020004" pitchFamily="2" charset="0"/>
              </a:rPr>
              <a:t>Encadre Par:  Dr </a:t>
            </a:r>
            <a:r>
              <a:rPr lang="en-US" sz="2000" dirty="0" err="1">
                <a:solidFill>
                  <a:schemeClr val="bg2"/>
                </a:solidFill>
              </a:rPr>
              <a:t>Imane</a:t>
            </a:r>
            <a:r>
              <a:rPr lang="en-US" sz="2000" dirty="0">
                <a:solidFill>
                  <a:schemeClr val="bg2"/>
                </a:solidFill>
              </a:rPr>
              <a:t> </a:t>
            </a:r>
            <a:r>
              <a:rPr lang="en-US" sz="2000" dirty="0" err="1">
                <a:solidFill>
                  <a:schemeClr val="bg2"/>
                </a:solidFill>
              </a:rPr>
              <a:t>Dbibih</a:t>
            </a:r>
            <a:r>
              <a:rPr lang="fi-FI" sz="2000" dirty="0">
                <a:solidFill>
                  <a:schemeClr val="bg1"/>
                </a:solidFill>
                <a:ea typeface="Inter 18pt SemiBold" panose="02000503000000020004" pitchFamily="2" charset="0"/>
              </a:rPr>
              <a:t> </a:t>
            </a:r>
            <a:endParaRPr lang="fr-FR" sz="2000" dirty="0">
              <a:solidFill>
                <a:schemeClr val="bg1"/>
              </a:solidFill>
              <a:ea typeface="Inter 18pt SemiBold" panose="02000503000000020004"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1440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CONTEXTE</a:t>
            </a:r>
            <a:endParaRPr lang="en-US" sz="1200" dirty="0"/>
          </a:p>
        </p:txBody>
      </p:sp>
      <p:sp>
        <p:nvSpPr>
          <p:cNvPr id="3" name="Text 0"/>
          <p:cNvSpPr>
            <a:spLocks noGrp="1"/>
          </p:cNvSpPr>
          <p:nvPr>
            <p:ph type="title" idx="101" hasCustomPrompt="1"/>
          </p:nvPr>
        </p:nvSpPr>
        <p:spPr>
          <a:xfrm>
            <a:off x="548640" y="54864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Les urgences hospitalières</a:t>
            </a:r>
            <a:endParaRPr lang="en-US" sz="3600" dirty="0"/>
          </a:p>
        </p:txBody>
      </p:sp>
      <p:sp>
        <p:nvSpPr>
          <p:cNvPr id="4" name="Carte contexte 1"/>
          <p:cNvSpPr/>
          <p:nvPr/>
        </p:nvSpPr>
        <p:spPr>
          <a:xfrm>
            <a:off x="548640" y="1554480"/>
            <a:ext cx="11091672" cy="1097280"/>
          </a:xfrm>
          <a:prstGeom prst="roundRect">
            <a:avLst>
              <a:gd name="adj" fmla="val 12500"/>
            </a:avLst>
          </a:prstGeom>
          <a:solidFill>
            <a:schemeClr val="bg2"/>
          </a:solidFill>
          <a:ln/>
          <a:effectLst>
            <a:outerShdw blurRad="101600" dist="25400" dir="5400000" algn="bl" rotWithShape="0">
              <a:srgbClr val="000000">
                <a:alpha val="14000"/>
              </a:srgbClr>
            </a:outerShdw>
          </a:effectLst>
        </p:spPr>
      </p:sp>
      <p:sp>
        <p:nvSpPr>
          <p:cNvPr id="5" name="Cercle Un flux continu de patients"/>
          <p:cNvSpPr/>
          <p:nvPr/>
        </p:nvSpPr>
        <p:spPr>
          <a:xfrm>
            <a:off x="868680" y="1737360"/>
            <a:ext cx="731520" cy="731520"/>
          </a:xfrm>
          <a:prstGeom prst="ellipse">
            <a:avLst/>
          </a:prstGeom>
          <a:solidFill>
            <a:schemeClr val="accent1"/>
          </a:solidFill>
          <a:ln/>
        </p:spPr>
      </p:sp>
      <p:pic>
        <p:nvPicPr>
          <p:cNvPr id="6" name="Icône Un flux continu de patients" descr="Un flux continu de patients"/>
          <p:cNvPicPr>
            <a:picLocks noChangeAspect="1"/>
          </p:cNvPicPr>
          <p:nvPr/>
        </p:nvPicPr>
        <p:blipFill>
          <a:blip r:embed="rId3"/>
          <a:stretch>
            <a:fillRect/>
          </a:stretch>
        </p:blipFill>
        <p:spPr>
          <a:xfrm>
            <a:off x="1051560" y="1920240"/>
            <a:ext cx="365760" cy="365760"/>
          </a:xfrm>
          <a:prstGeom prst="rect">
            <a:avLst/>
          </a:prstGeom>
        </p:spPr>
      </p:pic>
      <p:sp>
        <p:nvSpPr>
          <p:cNvPr id="7" name="Text 4"/>
          <p:cNvSpPr txBox="1"/>
          <p:nvPr/>
        </p:nvSpPr>
        <p:spPr>
          <a:xfrm>
            <a:off x="1965960" y="1719072"/>
            <a:ext cx="9326880" cy="365760"/>
          </a:xfrm>
          <a:prstGeom prst="rect">
            <a:avLst/>
          </a:prstGeom>
          <a:noFill/>
          <a:ln/>
        </p:spPr>
        <p:txBody>
          <a:bodyPr wrap="square" lIns="0" tIns="0" rIns="0" bIns="0" rtlCol="0" anchor="t"/>
          <a:lstStyle/>
          <a:p>
            <a:pPr marL="0" indent="0">
              <a:buNone/>
            </a:pPr>
            <a:r>
              <a:rPr lang="en-US" sz="2200" b="1" dirty="0">
                <a:solidFill>
                  <a:schemeClr val="tx2"/>
                </a:solidFill>
              </a:rPr>
              <a:t>Un flux continu de patients</a:t>
            </a:r>
            <a:endParaRPr lang="en-US" sz="2200" dirty="0"/>
          </a:p>
        </p:txBody>
      </p:sp>
      <p:sp>
        <p:nvSpPr>
          <p:cNvPr id="8" name="Text 5"/>
          <p:cNvSpPr txBox="1"/>
          <p:nvPr/>
        </p:nvSpPr>
        <p:spPr>
          <a:xfrm>
            <a:off x="1965960" y="2148840"/>
            <a:ext cx="9326880" cy="365760"/>
          </a:xfrm>
          <a:prstGeom prst="rect">
            <a:avLst/>
          </a:prstGeom>
          <a:noFill/>
          <a:ln/>
        </p:spPr>
        <p:txBody>
          <a:bodyPr wrap="square" lIns="0" tIns="0" rIns="0" bIns="0" rtlCol="0" anchor="t"/>
          <a:lstStyle/>
          <a:p>
            <a:pPr marL="0" indent="0">
              <a:buNone/>
            </a:pPr>
            <a:r>
              <a:rPr lang="en-US" sz="1800" dirty="0">
                <a:solidFill>
                  <a:srgbClr val="000000"/>
                </a:solidFill>
              </a:rPr>
              <a:t>Les patients arrivent sans arrêt, à toute heure.</a:t>
            </a:r>
            <a:endParaRPr lang="en-US" sz="1800" dirty="0"/>
          </a:p>
        </p:txBody>
      </p:sp>
      <p:sp>
        <p:nvSpPr>
          <p:cNvPr id="9" name="Carte contexte 2"/>
          <p:cNvSpPr/>
          <p:nvPr/>
        </p:nvSpPr>
        <p:spPr>
          <a:xfrm>
            <a:off x="548640" y="2834640"/>
            <a:ext cx="11091672" cy="1097280"/>
          </a:xfrm>
          <a:prstGeom prst="roundRect">
            <a:avLst>
              <a:gd name="adj" fmla="val 12500"/>
            </a:avLst>
          </a:prstGeom>
          <a:solidFill>
            <a:schemeClr val="bg2"/>
          </a:solidFill>
          <a:ln/>
          <a:effectLst>
            <a:outerShdw blurRad="101600" dist="25400" dir="5400000" algn="bl" rotWithShape="0">
              <a:srgbClr val="000000">
                <a:alpha val="14000"/>
              </a:srgbClr>
            </a:outerShdw>
          </a:effectLst>
        </p:spPr>
      </p:sp>
      <p:sp>
        <p:nvSpPr>
          <p:cNvPr id="10" name="Cercle Des gravités très différentes"/>
          <p:cNvSpPr/>
          <p:nvPr/>
        </p:nvSpPr>
        <p:spPr>
          <a:xfrm>
            <a:off x="868680" y="3017520"/>
            <a:ext cx="731520" cy="731520"/>
          </a:xfrm>
          <a:prstGeom prst="ellipse">
            <a:avLst/>
          </a:prstGeom>
          <a:solidFill>
            <a:schemeClr val="accent1"/>
          </a:solidFill>
          <a:ln/>
        </p:spPr>
      </p:sp>
      <p:pic>
        <p:nvPicPr>
          <p:cNvPr id="11" name="Icône Des gravités très différentes" descr="Des gravités très différentes"/>
          <p:cNvPicPr>
            <a:picLocks noChangeAspect="1"/>
          </p:cNvPicPr>
          <p:nvPr/>
        </p:nvPicPr>
        <p:blipFill>
          <a:blip r:embed="rId4"/>
          <a:stretch>
            <a:fillRect/>
          </a:stretch>
        </p:blipFill>
        <p:spPr>
          <a:xfrm>
            <a:off x="1051560" y="3200400"/>
            <a:ext cx="365760" cy="365760"/>
          </a:xfrm>
          <a:prstGeom prst="rect">
            <a:avLst/>
          </a:prstGeom>
        </p:spPr>
      </p:pic>
      <p:sp>
        <p:nvSpPr>
          <p:cNvPr id="12" name="Text 8"/>
          <p:cNvSpPr txBox="1"/>
          <p:nvPr/>
        </p:nvSpPr>
        <p:spPr>
          <a:xfrm>
            <a:off x="1965960" y="2999232"/>
            <a:ext cx="9326880" cy="365760"/>
          </a:xfrm>
          <a:prstGeom prst="rect">
            <a:avLst/>
          </a:prstGeom>
          <a:noFill/>
          <a:ln/>
        </p:spPr>
        <p:txBody>
          <a:bodyPr wrap="square" lIns="0" tIns="0" rIns="0" bIns="0" rtlCol="0" anchor="t"/>
          <a:lstStyle/>
          <a:p>
            <a:pPr marL="0" indent="0">
              <a:buNone/>
            </a:pPr>
            <a:r>
              <a:rPr lang="en-US" sz="2200" b="1" dirty="0">
                <a:solidFill>
                  <a:schemeClr val="tx2"/>
                </a:solidFill>
              </a:rPr>
              <a:t>Des gravités très différentes</a:t>
            </a:r>
            <a:endParaRPr lang="en-US" sz="2200" dirty="0"/>
          </a:p>
        </p:txBody>
      </p:sp>
      <p:sp>
        <p:nvSpPr>
          <p:cNvPr id="13" name="Text 9"/>
          <p:cNvSpPr txBox="1"/>
          <p:nvPr/>
        </p:nvSpPr>
        <p:spPr>
          <a:xfrm>
            <a:off x="1965960" y="3429000"/>
            <a:ext cx="9326880" cy="365760"/>
          </a:xfrm>
          <a:prstGeom prst="rect">
            <a:avLst/>
          </a:prstGeom>
          <a:noFill/>
          <a:ln/>
        </p:spPr>
        <p:txBody>
          <a:bodyPr wrap="square" lIns="0" tIns="0" rIns="0" bIns="0" rtlCol="0" anchor="t"/>
          <a:lstStyle/>
          <a:p>
            <a:pPr marL="0" indent="0">
              <a:buNone/>
            </a:pPr>
            <a:r>
              <a:rPr lang="en-US" sz="1800" dirty="0">
                <a:solidFill>
                  <a:srgbClr val="000000"/>
                </a:solidFill>
              </a:rPr>
              <a:t>Du cas bénin au cas critique : tous n'ont pas la même urgence.</a:t>
            </a:r>
            <a:endParaRPr lang="en-US" sz="1800" dirty="0"/>
          </a:p>
        </p:txBody>
      </p:sp>
      <p:sp>
        <p:nvSpPr>
          <p:cNvPr id="14" name="Carte contexte 3"/>
          <p:cNvSpPr/>
          <p:nvPr/>
        </p:nvSpPr>
        <p:spPr>
          <a:xfrm>
            <a:off x="548640" y="4114800"/>
            <a:ext cx="11091672" cy="1097280"/>
          </a:xfrm>
          <a:prstGeom prst="roundRect">
            <a:avLst>
              <a:gd name="adj" fmla="val 12500"/>
            </a:avLst>
          </a:prstGeom>
          <a:solidFill>
            <a:schemeClr val="bg2"/>
          </a:solidFill>
          <a:ln/>
          <a:effectLst>
            <a:outerShdw blurRad="101600" dist="25400" dir="5400000" algn="bl" rotWithShape="0">
              <a:srgbClr val="000000">
                <a:alpha val="14000"/>
              </a:srgbClr>
            </a:outerShdw>
          </a:effectLst>
        </p:spPr>
      </p:sp>
      <p:sp>
        <p:nvSpPr>
          <p:cNvPr id="15" name="Cercle Un temps médical limité"/>
          <p:cNvSpPr/>
          <p:nvPr/>
        </p:nvSpPr>
        <p:spPr>
          <a:xfrm>
            <a:off x="868680" y="4297680"/>
            <a:ext cx="731520" cy="731520"/>
          </a:xfrm>
          <a:prstGeom prst="ellipse">
            <a:avLst/>
          </a:prstGeom>
          <a:solidFill>
            <a:schemeClr val="accent1"/>
          </a:solidFill>
          <a:ln/>
        </p:spPr>
      </p:sp>
      <p:pic>
        <p:nvPicPr>
          <p:cNvPr id="16" name="Icône Un temps médical limité" descr="Un temps médical limité"/>
          <p:cNvPicPr>
            <a:picLocks noChangeAspect="1"/>
          </p:cNvPicPr>
          <p:nvPr/>
        </p:nvPicPr>
        <p:blipFill>
          <a:blip r:embed="rId5"/>
          <a:stretch>
            <a:fillRect/>
          </a:stretch>
        </p:blipFill>
        <p:spPr>
          <a:xfrm>
            <a:off x="1051560" y="4480560"/>
            <a:ext cx="365760" cy="365760"/>
          </a:xfrm>
          <a:prstGeom prst="rect">
            <a:avLst/>
          </a:prstGeom>
        </p:spPr>
      </p:pic>
      <p:sp>
        <p:nvSpPr>
          <p:cNvPr id="17" name="Text 12"/>
          <p:cNvSpPr txBox="1"/>
          <p:nvPr/>
        </p:nvSpPr>
        <p:spPr>
          <a:xfrm>
            <a:off x="1965960" y="4279392"/>
            <a:ext cx="9326880" cy="365760"/>
          </a:xfrm>
          <a:prstGeom prst="rect">
            <a:avLst/>
          </a:prstGeom>
          <a:noFill/>
          <a:ln/>
        </p:spPr>
        <p:txBody>
          <a:bodyPr wrap="square" lIns="0" tIns="0" rIns="0" bIns="0" rtlCol="0" anchor="t"/>
          <a:lstStyle/>
          <a:p>
            <a:pPr marL="0" indent="0">
              <a:buNone/>
            </a:pPr>
            <a:r>
              <a:rPr lang="en-US" sz="2200" b="1" dirty="0">
                <a:solidFill>
                  <a:schemeClr val="tx2"/>
                </a:solidFill>
              </a:rPr>
              <a:t>Un temps médical limité</a:t>
            </a:r>
            <a:endParaRPr lang="en-US" sz="2200" dirty="0"/>
          </a:p>
        </p:txBody>
      </p:sp>
      <p:sp>
        <p:nvSpPr>
          <p:cNvPr id="18" name="Text 13"/>
          <p:cNvSpPr txBox="1"/>
          <p:nvPr/>
        </p:nvSpPr>
        <p:spPr>
          <a:xfrm>
            <a:off x="1965960" y="4709160"/>
            <a:ext cx="9326880" cy="365760"/>
          </a:xfrm>
          <a:prstGeom prst="rect">
            <a:avLst/>
          </a:prstGeom>
          <a:noFill/>
          <a:ln/>
        </p:spPr>
        <p:txBody>
          <a:bodyPr wrap="square" lIns="0" tIns="0" rIns="0" bIns="0" rtlCol="0" anchor="t"/>
          <a:lstStyle/>
          <a:p>
            <a:pPr marL="0" indent="0">
              <a:buNone/>
            </a:pPr>
            <a:r>
              <a:rPr lang="en-US" sz="1800" dirty="0">
                <a:solidFill>
                  <a:srgbClr val="000000"/>
                </a:solidFill>
              </a:rPr>
              <a:t>Les docteurs ont des spécialités différentes et des charges inégales.</a:t>
            </a:r>
            <a:endParaRPr lang="en-US" sz="18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fr-FR" dirty="0"/>
              <a:t>Le problème : choisir le bon docteur ?</a:t>
            </a:r>
            <a:endParaRPr lang="en-US" sz="3600" dirty="0"/>
          </a:p>
        </p:txBody>
      </p:sp>
      <p:sp>
        <p:nvSpPr>
          <p:cNvPr id="3" name="Carte patient"/>
          <p:cNvSpPr/>
          <p:nvPr/>
        </p:nvSpPr>
        <p:spPr>
          <a:xfrm>
            <a:off x="548640" y="1554480"/>
            <a:ext cx="3383280" cy="3611880"/>
          </a:xfrm>
          <a:prstGeom prst="roundRect">
            <a:avLst>
              <a:gd name="adj" fmla="val 4054"/>
            </a:avLst>
          </a:prstGeom>
          <a:solidFill>
            <a:schemeClr val="bg2"/>
          </a:solidFill>
          <a:ln/>
          <a:effectLst>
            <a:outerShdw blurRad="101600" dist="25400" dir="5400000" algn="bl" rotWithShape="0">
              <a:srgbClr val="000000">
                <a:alpha val="14000"/>
              </a:srgbClr>
            </a:outerShdw>
          </a:effectLst>
        </p:spPr>
      </p:sp>
      <p:sp>
        <p:nvSpPr>
          <p:cNvPr id="4" name="Cercle patient"/>
          <p:cNvSpPr/>
          <p:nvPr/>
        </p:nvSpPr>
        <p:spPr>
          <a:xfrm>
            <a:off x="868680" y="1828800"/>
            <a:ext cx="914400" cy="914400"/>
          </a:xfrm>
          <a:prstGeom prst="ellipse">
            <a:avLst/>
          </a:prstGeom>
          <a:solidFill>
            <a:schemeClr val="accent2"/>
          </a:solidFill>
          <a:ln/>
        </p:spPr>
      </p:sp>
      <p:pic>
        <p:nvPicPr>
          <p:cNvPr id="5" name="Icône patient" descr="patient"/>
          <p:cNvPicPr>
            <a:picLocks noChangeAspect="1"/>
          </p:cNvPicPr>
          <p:nvPr/>
        </p:nvPicPr>
        <p:blipFill>
          <a:blip r:embed="rId3"/>
          <a:stretch>
            <a:fillRect/>
          </a:stretch>
        </p:blipFill>
        <p:spPr>
          <a:xfrm>
            <a:off x="1097280" y="2057400"/>
            <a:ext cx="457200" cy="457200"/>
          </a:xfrm>
          <a:prstGeom prst="rect">
            <a:avLst/>
          </a:prstGeom>
        </p:spPr>
      </p:pic>
      <p:sp>
        <p:nvSpPr>
          <p:cNvPr id="6" name="Text 3"/>
          <p:cNvSpPr txBox="1"/>
          <p:nvPr/>
        </p:nvSpPr>
        <p:spPr>
          <a:xfrm>
            <a:off x="868680" y="2926080"/>
            <a:ext cx="2743200" cy="411480"/>
          </a:xfrm>
          <a:prstGeom prst="rect">
            <a:avLst/>
          </a:prstGeom>
          <a:noFill/>
          <a:ln/>
        </p:spPr>
        <p:txBody>
          <a:bodyPr wrap="square" lIns="0" tIns="0" rIns="0" bIns="0" rtlCol="0" anchor="t"/>
          <a:lstStyle/>
          <a:p>
            <a:pPr marL="0" indent="0">
              <a:buNone/>
            </a:pPr>
            <a:r>
              <a:rPr lang="en-US" sz="2400" b="1" dirty="0">
                <a:solidFill>
                  <a:schemeClr val="tx2"/>
                </a:solidFill>
              </a:rPr>
              <a:t>Patient</a:t>
            </a:r>
            <a:endParaRPr lang="en-US" sz="2400" dirty="0"/>
          </a:p>
        </p:txBody>
      </p:sp>
      <p:sp>
        <p:nvSpPr>
          <p:cNvPr id="7" name="Text 4"/>
          <p:cNvSpPr txBox="1"/>
          <p:nvPr/>
        </p:nvSpPr>
        <p:spPr>
          <a:xfrm>
            <a:off x="868680" y="3383280"/>
            <a:ext cx="2743200" cy="365760"/>
          </a:xfrm>
          <a:prstGeom prst="rect">
            <a:avLst/>
          </a:prstGeom>
          <a:noFill/>
          <a:ln/>
        </p:spPr>
        <p:txBody>
          <a:bodyPr wrap="square" lIns="0" tIns="0" rIns="0" bIns="0" rtlCol="0" anchor="t"/>
          <a:lstStyle/>
          <a:p>
            <a:pPr marL="0" indent="0">
              <a:buNone/>
            </a:pPr>
            <a:r>
              <a:rPr lang="en-US" sz="1800" dirty="0">
                <a:solidFill>
                  <a:srgbClr val="000000"/>
                </a:solidFill>
              </a:rPr>
              <a:t>Douleur thoracique</a:t>
            </a:r>
            <a:endParaRPr lang="en-US" sz="1800" dirty="0"/>
          </a:p>
        </p:txBody>
      </p:sp>
      <p:sp>
        <p:nvSpPr>
          <p:cNvPr id="8" name="Pastille urgence"/>
          <p:cNvSpPr txBox="1"/>
          <p:nvPr/>
        </p:nvSpPr>
        <p:spPr>
          <a:xfrm>
            <a:off x="868680" y="3931920"/>
            <a:ext cx="2011680" cy="411480"/>
          </a:xfrm>
          <a:prstGeom prst="roundRect">
            <a:avLst>
              <a:gd name="adj" fmla="val 44444"/>
            </a:avLst>
          </a:prstGeom>
          <a:solidFill>
            <a:schemeClr val="accent2"/>
          </a:solidFill>
          <a:ln/>
        </p:spPr>
        <p:txBody>
          <a:bodyPr wrap="square" lIns="0" tIns="0" rIns="0" bIns="0" rtlCol="0" anchor="ctr"/>
          <a:lstStyle/>
          <a:p>
            <a:pPr marL="0" indent="0" algn="ctr">
              <a:buNone/>
            </a:pPr>
            <a:r>
              <a:rPr lang="en-US" sz="1400" b="1" dirty="0">
                <a:solidFill>
                  <a:schemeClr val="bg1"/>
                </a:solidFill>
              </a:rPr>
              <a:t>Urgence 4 sur 5</a:t>
            </a:r>
            <a:endParaRPr lang="en-US" sz="1400" dirty="0"/>
          </a:p>
        </p:txBody>
      </p:sp>
      <p:sp>
        <p:nvSpPr>
          <p:cNvPr id="9" name="Text 6"/>
          <p:cNvSpPr txBox="1"/>
          <p:nvPr/>
        </p:nvSpPr>
        <p:spPr>
          <a:xfrm>
            <a:off x="868680" y="4526280"/>
            <a:ext cx="2743200" cy="320040"/>
          </a:xfrm>
          <a:prstGeom prst="rect">
            <a:avLst/>
          </a:prstGeom>
          <a:noFill/>
          <a:ln/>
        </p:spPr>
        <p:txBody>
          <a:bodyPr wrap="square" lIns="0" tIns="0" rIns="0" bIns="0" rtlCol="0" anchor="t"/>
          <a:lstStyle/>
          <a:p>
            <a:pPr marL="0" indent="0">
              <a:buNone/>
            </a:pPr>
            <a:r>
              <a:rPr lang="en-US" sz="1400" dirty="0">
                <a:solidFill>
                  <a:schemeClr val="accent5"/>
                </a:solidFill>
              </a:rPr>
              <a:t>6 docteurs disponibles</a:t>
            </a:r>
            <a:endParaRPr lang="en-US" sz="1400" dirty="0"/>
          </a:p>
        </p:txBody>
      </p:sp>
      <p:sp>
        <p:nvSpPr>
          <p:cNvPr id="10" name="Point d&amp;apos;interrogation"/>
          <p:cNvSpPr txBox="1"/>
          <p:nvPr/>
        </p:nvSpPr>
        <p:spPr>
          <a:xfrm>
            <a:off x="4160520" y="3108960"/>
            <a:ext cx="548640" cy="548640"/>
          </a:xfrm>
          <a:prstGeom prst="ellipse">
            <a:avLst/>
          </a:prstGeom>
          <a:solidFill>
            <a:schemeClr val="accent3"/>
          </a:solidFill>
          <a:ln/>
        </p:spPr>
        <p:txBody>
          <a:bodyPr wrap="square" lIns="0" tIns="0" rIns="0" bIns="0" rtlCol="0" anchor="ctr"/>
          <a:lstStyle/>
          <a:p>
            <a:pPr marL="0" indent="0" algn="ctr">
              <a:buNone/>
            </a:pPr>
            <a:r>
              <a:rPr lang="en-US" sz="2400" b="1" dirty="0">
                <a:solidFill>
                  <a:schemeClr val="tx1"/>
                </a:solidFill>
              </a:rPr>
              <a:t>?</a:t>
            </a:r>
            <a:endParaRPr lang="en-US" sz="2400" dirty="0"/>
          </a:p>
        </p:txBody>
      </p:sp>
      <p:sp>
        <p:nvSpPr>
          <p:cNvPr id="11" name="Carte Dr Chafik"/>
          <p:cNvSpPr/>
          <p:nvPr/>
        </p:nvSpPr>
        <p:spPr>
          <a:xfrm>
            <a:off x="4983480" y="1554480"/>
            <a:ext cx="3200400" cy="1645920"/>
          </a:xfrm>
          <a:prstGeom prst="roundRect">
            <a:avLst>
              <a:gd name="adj" fmla="val 8333"/>
            </a:avLst>
          </a:prstGeom>
          <a:solidFill>
            <a:schemeClr val="bg2"/>
          </a:solidFill>
          <a:ln/>
          <a:effectLst>
            <a:outerShdw blurRad="101600" dist="25400" dir="5400000" algn="bl" rotWithShape="0">
              <a:srgbClr val="000000">
                <a:alpha val="14000"/>
              </a:srgbClr>
            </a:outerShdw>
          </a:effectLst>
        </p:spPr>
      </p:sp>
      <p:sp>
        <p:nvSpPr>
          <p:cNvPr id="12" name="Cercle Dr Chafik"/>
          <p:cNvSpPr/>
          <p:nvPr/>
        </p:nvSpPr>
        <p:spPr>
          <a:xfrm>
            <a:off x="5166360" y="2029968"/>
            <a:ext cx="685800" cy="685800"/>
          </a:xfrm>
          <a:prstGeom prst="ellipse">
            <a:avLst/>
          </a:prstGeom>
          <a:solidFill>
            <a:schemeClr val="accent6"/>
          </a:solidFill>
          <a:ln/>
        </p:spPr>
      </p:sp>
      <p:pic>
        <p:nvPicPr>
          <p:cNvPr id="13" name="Icône Dr Chafik" descr="Dr Chafik"/>
          <p:cNvPicPr>
            <a:picLocks noChangeAspect="1"/>
          </p:cNvPicPr>
          <p:nvPr/>
        </p:nvPicPr>
        <p:blipFill>
          <a:blip r:embed="rId4"/>
          <a:stretch>
            <a:fillRect/>
          </a:stretch>
        </p:blipFill>
        <p:spPr>
          <a:xfrm>
            <a:off x="5337810" y="2201418"/>
            <a:ext cx="342900" cy="342900"/>
          </a:xfrm>
          <a:prstGeom prst="rect">
            <a:avLst/>
          </a:prstGeom>
        </p:spPr>
      </p:pic>
      <p:sp>
        <p:nvSpPr>
          <p:cNvPr id="14" name="Text 10"/>
          <p:cNvSpPr txBox="1"/>
          <p:nvPr/>
        </p:nvSpPr>
        <p:spPr>
          <a:xfrm>
            <a:off x="6035040" y="1828800"/>
            <a:ext cx="2011680" cy="365760"/>
          </a:xfrm>
          <a:prstGeom prst="rect">
            <a:avLst/>
          </a:prstGeom>
          <a:noFill/>
          <a:ln/>
        </p:spPr>
        <p:txBody>
          <a:bodyPr wrap="square" lIns="0" tIns="0" rIns="0" bIns="0" rtlCol="0" anchor="t"/>
          <a:lstStyle/>
          <a:p>
            <a:pPr marL="0" indent="0">
              <a:buNone/>
            </a:pPr>
            <a:r>
              <a:rPr lang="en-US" sz="1800" b="1" dirty="0">
                <a:solidFill>
                  <a:schemeClr val="tx2"/>
                </a:solidFill>
              </a:rPr>
              <a:t>Dr Chafik</a:t>
            </a:r>
            <a:endParaRPr lang="en-US" sz="1800" dirty="0"/>
          </a:p>
        </p:txBody>
      </p:sp>
      <p:sp>
        <p:nvSpPr>
          <p:cNvPr id="15" name="Text 11"/>
          <p:cNvSpPr txBox="1"/>
          <p:nvPr/>
        </p:nvSpPr>
        <p:spPr>
          <a:xfrm>
            <a:off x="6035040" y="2240280"/>
            <a:ext cx="2011680" cy="320040"/>
          </a:xfrm>
          <a:prstGeom prst="rect">
            <a:avLst/>
          </a:prstGeom>
          <a:noFill/>
          <a:ln/>
        </p:spPr>
        <p:txBody>
          <a:bodyPr wrap="square" lIns="0" tIns="0" rIns="0" bIns="0" rtlCol="0" anchor="t"/>
          <a:lstStyle/>
          <a:p>
            <a:pPr marL="0" indent="0">
              <a:buNone/>
            </a:pPr>
            <a:r>
              <a:rPr lang="en-US" sz="1400" dirty="0">
                <a:solidFill>
                  <a:srgbClr val="000000"/>
                </a:solidFill>
              </a:rPr>
              <a:t>Généraliste</a:t>
            </a:r>
            <a:endParaRPr lang="en-US" sz="1400" dirty="0"/>
          </a:p>
        </p:txBody>
      </p:sp>
      <p:sp>
        <p:nvSpPr>
          <p:cNvPr id="16" name="Text 12"/>
          <p:cNvSpPr txBox="1"/>
          <p:nvPr/>
        </p:nvSpPr>
        <p:spPr>
          <a:xfrm>
            <a:off x="6035040" y="2606040"/>
            <a:ext cx="2011680" cy="320040"/>
          </a:xfrm>
          <a:prstGeom prst="rect">
            <a:avLst/>
          </a:prstGeom>
          <a:noFill/>
          <a:ln/>
        </p:spPr>
        <p:txBody>
          <a:bodyPr wrap="square" lIns="0" tIns="0" rIns="0" bIns="0" rtlCol="0" anchor="t"/>
          <a:lstStyle/>
          <a:p>
            <a:pPr marL="0" indent="0">
              <a:buNone/>
            </a:pPr>
            <a:r>
              <a:rPr lang="en-US" sz="1400" b="1" dirty="0">
                <a:solidFill>
                  <a:schemeClr val="accent1"/>
                </a:solidFill>
              </a:rPr>
              <a:t>Disponible dans 5 min</a:t>
            </a:r>
            <a:endParaRPr lang="en-US" sz="1400" dirty="0"/>
          </a:p>
        </p:txBody>
      </p:sp>
      <p:sp>
        <p:nvSpPr>
          <p:cNvPr id="17" name="Carte Dr Alami"/>
          <p:cNvSpPr/>
          <p:nvPr/>
        </p:nvSpPr>
        <p:spPr>
          <a:xfrm>
            <a:off x="8485632" y="1554480"/>
            <a:ext cx="3200400" cy="1645920"/>
          </a:xfrm>
          <a:prstGeom prst="roundRect">
            <a:avLst>
              <a:gd name="adj" fmla="val 8333"/>
            </a:avLst>
          </a:prstGeom>
          <a:solidFill>
            <a:schemeClr val="bg2"/>
          </a:solidFill>
          <a:ln/>
          <a:effectLst>
            <a:outerShdw blurRad="101600" dist="25400" dir="5400000" algn="bl" rotWithShape="0">
              <a:srgbClr val="000000">
                <a:alpha val="14000"/>
              </a:srgbClr>
            </a:outerShdw>
          </a:effectLst>
        </p:spPr>
      </p:sp>
      <p:sp>
        <p:nvSpPr>
          <p:cNvPr id="18" name="Cercle Dr Alami"/>
          <p:cNvSpPr/>
          <p:nvPr/>
        </p:nvSpPr>
        <p:spPr>
          <a:xfrm>
            <a:off x="8668512" y="2029968"/>
            <a:ext cx="685800" cy="685800"/>
          </a:xfrm>
          <a:prstGeom prst="ellipse">
            <a:avLst/>
          </a:prstGeom>
          <a:solidFill>
            <a:schemeClr val="accent6"/>
          </a:solidFill>
          <a:ln/>
        </p:spPr>
      </p:sp>
      <p:pic>
        <p:nvPicPr>
          <p:cNvPr id="19" name="Icône Dr Alami" descr="Dr Alami"/>
          <p:cNvPicPr>
            <a:picLocks noChangeAspect="1"/>
          </p:cNvPicPr>
          <p:nvPr/>
        </p:nvPicPr>
        <p:blipFill>
          <a:blip r:embed="rId4"/>
          <a:stretch>
            <a:fillRect/>
          </a:stretch>
        </p:blipFill>
        <p:spPr>
          <a:xfrm>
            <a:off x="8839962" y="2201418"/>
            <a:ext cx="342900" cy="342900"/>
          </a:xfrm>
          <a:prstGeom prst="rect">
            <a:avLst/>
          </a:prstGeom>
        </p:spPr>
      </p:pic>
      <p:sp>
        <p:nvSpPr>
          <p:cNvPr id="20" name="Text 15"/>
          <p:cNvSpPr txBox="1"/>
          <p:nvPr/>
        </p:nvSpPr>
        <p:spPr>
          <a:xfrm>
            <a:off x="9537192" y="1828800"/>
            <a:ext cx="2011680" cy="365760"/>
          </a:xfrm>
          <a:prstGeom prst="rect">
            <a:avLst/>
          </a:prstGeom>
          <a:noFill/>
          <a:ln/>
        </p:spPr>
        <p:txBody>
          <a:bodyPr wrap="square" lIns="0" tIns="0" rIns="0" bIns="0" rtlCol="0" anchor="t"/>
          <a:lstStyle/>
          <a:p>
            <a:pPr marL="0" indent="0">
              <a:buNone/>
            </a:pPr>
            <a:r>
              <a:rPr lang="en-US" sz="1800" b="1" dirty="0">
                <a:solidFill>
                  <a:schemeClr val="tx2"/>
                </a:solidFill>
              </a:rPr>
              <a:t>Dr Alami</a:t>
            </a:r>
            <a:endParaRPr lang="en-US" sz="1800" dirty="0"/>
          </a:p>
        </p:txBody>
      </p:sp>
      <p:sp>
        <p:nvSpPr>
          <p:cNvPr id="21" name="Text 16"/>
          <p:cNvSpPr txBox="1"/>
          <p:nvPr/>
        </p:nvSpPr>
        <p:spPr>
          <a:xfrm>
            <a:off x="9537192" y="2240280"/>
            <a:ext cx="2011680" cy="320040"/>
          </a:xfrm>
          <a:prstGeom prst="rect">
            <a:avLst/>
          </a:prstGeom>
          <a:noFill/>
          <a:ln/>
        </p:spPr>
        <p:txBody>
          <a:bodyPr wrap="square" lIns="0" tIns="0" rIns="0" bIns="0" rtlCol="0" anchor="t"/>
          <a:lstStyle/>
          <a:p>
            <a:pPr marL="0" indent="0">
              <a:buNone/>
            </a:pPr>
            <a:r>
              <a:rPr lang="en-US" sz="1400" dirty="0">
                <a:solidFill>
                  <a:srgbClr val="000000"/>
                </a:solidFill>
              </a:rPr>
              <a:t>Cardiologue</a:t>
            </a:r>
            <a:endParaRPr lang="en-US" sz="1400" dirty="0"/>
          </a:p>
        </p:txBody>
      </p:sp>
      <p:sp>
        <p:nvSpPr>
          <p:cNvPr id="22" name="Text 17"/>
          <p:cNvSpPr txBox="1"/>
          <p:nvPr/>
        </p:nvSpPr>
        <p:spPr>
          <a:xfrm>
            <a:off x="9537192" y="2606040"/>
            <a:ext cx="2011680" cy="320040"/>
          </a:xfrm>
          <a:prstGeom prst="rect">
            <a:avLst/>
          </a:prstGeom>
          <a:noFill/>
          <a:ln/>
        </p:spPr>
        <p:txBody>
          <a:bodyPr wrap="square" lIns="0" tIns="0" rIns="0" bIns="0" rtlCol="0" anchor="t"/>
          <a:lstStyle/>
          <a:p>
            <a:pPr marL="0" indent="0">
              <a:buNone/>
            </a:pPr>
            <a:r>
              <a:rPr lang="en-US" sz="1400" b="1" dirty="0">
                <a:solidFill>
                  <a:schemeClr val="accent1"/>
                </a:solidFill>
              </a:rPr>
              <a:t>Disponible dans 10 min</a:t>
            </a:r>
            <a:endParaRPr lang="en-US" sz="1400" dirty="0"/>
          </a:p>
        </p:txBody>
      </p:sp>
      <p:sp>
        <p:nvSpPr>
          <p:cNvPr id="23" name="Carte Dr Douiri"/>
          <p:cNvSpPr/>
          <p:nvPr/>
        </p:nvSpPr>
        <p:spPr>
          <a:xfrm>
            <a:off x="4983480" y="3520440"/>
            <a:ext cx="3200400" cy="1645920"/>
          </a:xfrm>
          <a:prstGeom prst="roundRect">
            <a:avLst>
              <a:gd name="adj" fmla="val 8333"/>
            </a:avLst>
          </a:prstGeom>
          <a:solidFill>
            <a:schemeClr val="bg2"/>
          </a:solidFill>
          <a:ln/>
          <a:effectLst>
            <a:outerShdw blurRad="101600" dist="25400" dir="5400000" algn="bl" rotWithShape="0">
              <a:srgbClr val="000000">
                <a:alpha val="14000"/>
              </a:srgbClr>
            </a:outerShdw>
          </a:effectLst>
        </p:spPr>
      </p:sp>
      <p:sp>
        <p:nvSpPr>
          <p:cNvPr id="24" name="Cercle Dr Douiri"/>
          <p:cNvSpPr/>
          <p:nvPr/>
        </p:nvSpPr>
        <p:spPr>
          <a:xfrm>
            <a:off x="5166360" y="3995928"/>
            <a:ext cx="685800" cy="685800"/>
          </a:xfrm>
          <a:prstGeom prst="ellipse">
            <a:avLst/>
          </a:prstGeom>
          <a:solidFill>
            <a:schemeClr val="accent6"/>
          </a:solidFill>
          <a:ln/>
        </p:spPr>
      </p:sp>
      <p:pic>
        <p:nvPicPr>
          <p:cNvPr id="25" name="Icône Dr Douiri" descr="Dr Douiri"/>
          <p:cNvPicPr>
            <a:picLocks noChangeAspect="1"/>
          </p:cNvPicPr>
          <p:nvPr/>
        </p:nvPicPr>
        <p:blipFill>
          <a:blip r:embed="rId4"/>
          <a:stretch>
            <a:fillRect/>
          </a:stretch>
        </p:blipFill>
        <p:spPr>
          <a:xfrm>
            <a:off x="5337810" y="4167378"/>
            <a:ext cx="342900" cy="342900"/>
          </a:xfrm>
          <a:prstGeom prst="rect">
            <a:avLst/>
          </a:prstGeom>
        </p:spPr>
      </p:pic>
      <p:sp>
        <p:nvSpPr>
          <p:cNvPr id="26" name="Text 20"/>
          <p:cNvSpPr txBox="1"/>
          <p:nvPr/>
        </p:nvSpPr>
        <p:spPr>
          <a:xfrm>
            <a:off x="6035040" y="3794760"/>
            <a:ext cx="2011680" cy="365760"/>
          </a:xfrm>
          <a:prstGeom prst="rect">
            <a:avLst/>
          </a:prstGeom>
          <a:noFill/>
          <a:ln/>
        </p:spPr>
        <p:txBody>
          <a:bodyPr wrap="square" lIns="0" tIns="0" rIns="0" bIns="0" rtlCol="0" anchor="t"/>
          <a:lstStyle/>
          <a:p>
            <a:pPr marL="0" indent="0">
              <a:buNone/>
            </a:pPr>
            <a:r>
              <a:rPr lang="en-US" sz="1800" b="1" dirty="0">
                <a:solidFill>
                  <a:schemeClr val="tx2"/>
                </a:solidFill>
              </a:rPr>
              <a:t>Dr Douiri</a:t>
            </a:r>
            <a:endParaRPr lang="en-US" sz="1800" dirty="0"/>
          </a:p>
        </p:txBody>
      </p:sp>
      <p:sp>
        <p:nvSpPr>
          <p:cNvPr id="27" name="Text 21"/>
          <p:cNvSpPr txBox="1"/>
          <p:nvPr/>
        </p:nvSpPr>
        <p:spPr>
          <a:xfrm>
            <a:off x="6035040" y="4206240"/>
            <a:ext cx="2011680" cy="320040"/>
          </a:xfrm>
          <a:prstGeom prst="rect">
            <a:avLst/>
          </a:prstGeom>
          <a:noFill/>
          <a:ln/>
        </p:spPr>
        <p:txBody>
          <a:bodyPr wrap="square" lIns="0" tIns="0" rIns="0" bIns="0" rtlCol="0" anchor="t"/>
          <a:lstStyle/>
          <a:p>
            <a:pPr marL="0" indent="0">
              <a:buNone/>
            </a:pPr>
            <a:r>
              <a:rPr lang="en-US" sz="1400" dirty="0">
                <a:solidFill>
                  <a:srgbClr val="000000"/>
                </a:solidFill>
              </a:rPr>
              <a:t>Traumatologue</a:t>
            </a:r>
            <a:endParaRPr lang="en-US" sz="1400" dirty="0"/>
          </a:p>
        </p:txBody>
      </p:sp>
      <p:sp>
        <p:nvSpPr>
          <p:cNvPr id="28" name="Text 22"/>
          <p:cNvSpPr txBox="1"/>
          <p:nvPr/>
        </p:nvSpPr>
        <p:spPr>
          <a:xfrm>
            <a:off x="6035040" y="4572000"/>
            <a:ext cx="2011680" cy="320040"/>
          </a:xfrm>
          <a:prstGeom prst="rect">
            <a:avLst/>
          </a:prstGeom>
          <a:noFill/>
          <a:ln/>
        </p:spPr>
        <p:txBody>
          <a:bodyPr wrap="square" lIns="0" tIns="0" rIns="0" bIns="0" rtlCol="0" anchor="t"/>
          <a:lstStyle/>
          <a:p>
            <a:pPr marL="0" indent="0">
              <a:buNone/>
            </a:pPr>
            <a:r>
              <a:rPr lang="en-US" sz="1400" b="1" dirty="0">
                <a:solidFill>
                  <a:schemeClr val="accent1"/>
                </a:solidFill>
              </a:rPr>
              <a:t>Disponible dans 15 min</a:t>
            </a:r>
            <a:endParaRPr lang="en-US" sz="1400" dirty="0"/>
          </a:p>
        </p:txBody>
      </p:sp>
      <p:sp>
        <p:nvSpPr>
          <p:cNvPr id="29" name="Carte Dr Bennis"/>
          <p:cNvSpPr/>
          <p:nvPr/>
        </p:nvSpPr>
        <p:spPr>
          <a:xfrm>
            <a:off x="8485632" y="3520440"/>
            <a:ext cx="3200400" cy="1645920"/>
          </a:xfrm>
          <a:prstGeom prst="roundRect">
            <a:avLst>
              <a:gd name="adj" fmla="val 8333"/>
            </a:avLst>
          </a:prstGeom>
          <a:solidFill>
            <a:schemeClr val="bg2"/>
          </a:solidFill>
          <a:ln/>
          <a:effectLst>
            <a:outerShdw blurRad="101600" dist="25400" dir="5400000" algn="bl" rotWithShape="0">
              <a:srgbClr val="000000">
                <a:alpha val="14000"/>
              </a:srgbClr>
            </a:outerShdw>
          </a:effectLst>
        </p:spPr>
      </p:sp>
      <p:sp>
        <p:nvSpPr>
          <p:cNvPr id="30" name="Cercle Dr Bennis"/>
          <p:cNvSpPr/>
          <p:nvPr/>
        </p:nvSpPr>
        <p:spPr>
          <a:xfrm>
            <a:off x="8668512" y="3995928"/>
            <a:ext cx="685800" cy="685800"/>
          </a:xfrm>
          <a:prstGeom prst="ellipse">
            <a:avLst/>
          </a:prstGeom>
          <a:solidFill>
            <a:schemeClr val="accent6"/>
          </a:solidFill>
          <a:ln/>
        </p:spPr>
      </p:sp>
      <p:pic>
        <p:nvPicPr>
          <p:cNvPr id="31" name="Icône Dr Bennis" descr="Dr Bennis"/>
          <p:cNvPicPr>
            <a:picLocks noChangeAspect="1"/>
          </p:cNvPicPr>
          <p:nvPr/>
        </p:nvPicPr>
        <p:blipFill>
          <a:blip r:embed="rId4"/>
          <a:stretch>
            <a:fillRect/>
          </a:stretch>
        </p:blipFill>
        <p:spPr>
          <a:xfrm>
            <a:off x="8839962" y="4167378"/>
            <a:ext cx="342900" cy="342900"/>
          </a:xfrm>
          <a:prstGeom prst="rect">
            <a:avLst/>
          </a:prstGeom>
        </p:spPr>
      </p:pic>
      <p:sp>
        <p:nvSpPr>
          <p:cNvPr id="32" name="Text 25"/>
          <p:cNvSpPr txBox="1"/>
          <p:nvPr/>
        </p:nvSpPr>
        <p:spPr>
          <a:xfrm>
            <a:off x="9537192" y="3794760"/>
            <a:ext cx="2011680" cy="365760"/>
          </a:xfrm>
          <a:prstGeom prst="rect">
            <a:avLst/>
          </a:prstGeom>
          <a:noFill/>
          <a:ln/>
        </p:spPr>
        <p:txBody>
          <a:bodyPr wrap="square" lIns="0" tIns="0" rIns="0" bIns="0" rtlCol="0" anchor="t"/>
          <a:lstStyle/>
          <a:p>
            <a:pPr marL="0" indent="0">
              <a:buNone/>
            </a:pPr>
            <a:r>
              <a:rPr lang="en-US" sz="1800" b="1" dirty="0">
                <a:solidFill>
                  <a:schemeClr val="tx2"/>
                </a:solidFill>
              </a:rPr>
              <a:t>Dr Bennis</a:t>
            </a:r>
            <a:endParaRPr lang="en-US" sz="1800" dirty="0"/>
          </a:p>
        </p:txBody>
      </p:sp>
      <p:sp>
        <p:nvSpPr>
          <p:cNvPr id="33" name="Text 26"/>
          <p:cNvSpPr txBox="1"/>
          <p:nvPr/>
        </p:nvSpPr>
        <p:spPr>
          <a:xfrm>
            <a:off x="9537192" y="4206240"/>
            <a:ext cx="2011680" cy="320040"/>
          </a:xfrm>
          <a:prstGeom prst="rect">
            <a:avLst/>
          </a:prstGeom>
          <a:noFill/>
          <a:ln/>
        </p:spPr>
        <p:txBody>
          <a:bodyPr wrap="square" lIns="0" tIns="0" rIns="0" bIns="0" rtlCol="0" anchor="t"/>
          <a:lstStyle/>
          <a:p>
            <a:pPr marL="0" indent="0">
              <a:buNone/>
            </a:pPr>
            <a:r>
              <a:rPr lang="en-US" sz="1400" dirty="0">
                <a:solidFill>
                  <a:srgbClr val="000000"/>
                </a:solidFill>
              </a:rPr>
              <a:t>Cardiologue</a:t>
            </a:r>
            <a:endParaRPr lang="en-US" sz="1400" dirty="0"/>
          </a:p>
        </p:txBody>
      </p:sp>
      <p:sp>
        <p:nvSpPr>
          <p:cNvPr id="34" name="Text 27"/>
          <p:cNvSpPr txBox="1"/>
          <p:nvPr/>
        </p:nvSpPr>
        <p:spPr>
          <a:xfrm>
            <a:off x="9537192" y="4572000"/>
            <a:ext cx="2011680" cy="320040"/>
          </a:xfrm>
          <a:prstGeom prst="rect">
            <a:avLst/>
          </a:prstGeom>
          <a:noFill/>
          <a:ln/>
        </p:spPr>
        <p:txBody>
          <a:bodyPr wrap="square" lIns="0" tIns="0" rIns="0" bIns="0" rtlCol="0" anchor="t"/>
          <a:lstStyle/>
          <a:p>
            <a:pPr marL="0" indent="0">
              <a:buNone/>
            </a:pPr>
            <a:r>
              <a:rPr lang="en-US" sz="1400" b="1" dirty="0">
                <a:solidFill>
                  <a:schemeClr val="accent1"/>
                </a:solidFill>
              </a:rPr>
              <a:t>Disponible dans 25 min</a:t>
            </a:r>
            <a:endParaRPr lang="en-US" sz="1400" dirty="0"/>
          </a:p>
        </p:txBody>
      </p:sp>
      <p:sp>
        <p:nvSpPr>
          <p:cNvPr id="35" name="Text 28"/>
          <p:cNvSpPr txBox="1"/>
          <p:nvPr/>
        </p:nvSpPr>
        <p:spPr>
          <a:xfrm>
            <a:off x="548640" y="5440680"/>
            <a:ext cx="11091672" cy="411480"/>
          </a:xfrm>
          <a:prstGeom prst="rect">
            <a:avLst/>
          </a:prstGeom>
          <a:noFill/>
          <a:ln/>
        </p:spPr>
        <p:txBody>
          <a:bodyPr wrap="square" lIns="0" tIns="0" rIns="0" bIns="0" rtlCol="0" anchor="ctr"/>
          <a:lstStyle/>
          <a:p>
            <a:pPr marL="0" indent="0">
              <a:buNone/>
            </a:pPr>
            <a:r>
              <a:rPr lang="en-US" sz="1800" i="1" dirty="0">
                <a:solidFill>
                  <a:schemeClr val="accent1"/>
                </a:solidFill>
              </a:rPr>
              <a:t>Chaque docteur connaît sa file et son délai. Aucun ne voit les autres.</a:t>
            </a:r>
            <a:endParaRPr lang="en-US" sz="1800" dirty="0"/>
          </a:p>
        </p:txBody>
      </p:sp>
      <p:sp>
        <p:nvSpPr>
          <p:cNvPr id="38"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600" b="1" dirty="0">
                <a:solidFill>
                  <a:schemeClr val="tx2"/>
                </a:solidFill>
              </a:rPr>
              <a:t>Pourquoi un système multi-agents ?</a:t>
            </a:r>
            <a:endParaRPr lang="en-US" sz="3600" dirty="0"/>
          </a:p>
        </p:txBody>
      </p:sp>
      <p:sp>
        <p:nvSpPr>
          <p:cNvPr id="3" name="Carte Information locale"/>
          <p:cNvSpPr/>
          <p:nvPr/>
        </p:nvSpPr>
        <p:spPr>
          <a:xfrm>
            <a:off x="548640" y="1554480"/>
            <a:ext cx="3502152" cy="3474720"/>
          </a:xfrm>
          <a:prstGeom prst="roundRect">
            <a:avLst>
              <a:gd name="adj" fmla="val 3947"/>
            </a:avLst>
          </a:prstGeom>
          <a:solidFill>
            <a:schemeClr val="bg2"/>
          </a:solidFill>
          <a:ln/>
          <a:effectLst>
            <a:outerShdw blurRad="101600" dist="25400" dir="5400000" algn="bl" rotWithShape="0">
              <a:srgbClr val="000000">
                <a:alpha val="14000"/>
              </a:srgbClr>
            </a:outerShdw>
          </a:effectLst>
        </p:spPr>
      </p:sp>
      <p:sp>
        <p:nvSpPr>
          <p:cNvPr id="4" name="Cercle Information locale"/>
          <p:cNvSpPr/>
          <p:nvPr/>
        </p:nvSpPr>
        <p:spPr>
          <a:xfrm>
            <a:off x="868680" y="1874520"/>
            <a:ext cx="822960" cy="822960"/>
          </a:xfrm>
          <a:prstGeom prst="ellipse">
            <a:avLst/>
          </a:prstGeom>
          <a:solidFill>
            <a:schemeClr val="accent1"/>
          </a:solidFill>
          <a:ln/>
        </p:spPr>
      </p:sp>
      <p:pic>
        <p:nvPicPr>
          <p:cNvPr id="5" name="Icône Information locale" descr="Information locale"/>
          <p:cNvPicPr>
            <a:picLocks noChangeAspect="1"/>
          </p:cNvPicPr>
          <p:nvPr/>
        </p:nvPicPr>
        <p:blipFill>
          <a:blip r:embed="rId3"/>
          <a:stretch>
            <a:fillRect/>
          </a:stretch>
        </p:blipFill>
        <p:spPr>
          <a:xfrm>
            <a:off x="1074420" y="2080260"/>
            <a:ext cx="411480" cy="411480"/>
          </a:xfrm>
          <a:prstGeom prst="rect">
            <a:avLst/>
          </a:prstGeom>
        </p:spPr>
      </p:pic>
      <p:sp>
        <p:nvSpPr>
          <p:cNvPr id="6" name="Text 3"/>
          <p:cNvSpPr txBox="1"/>
          <p:nvPr/>
        </p:nvSpPr>
        <p:spPr>
          <a:xfrm>
            <a:off x="868680" y="2880360"/>
            <a:ext cx="2862072" cy="457200"/>
          </a:xfrm>
          <a:prstGeom prst="rect">
            <a:avLst/>
          </a:prstGeom>
          <a:noFill/>
          <a:ln/>
        </p:spPr>
        <p:txBody>
          <a:bodyPr wrap="square" lIns="0" tIns="0" rIns="0" bIns="0" rtlCol="0" anchor="t"/>
          <a:lstStyle/>
          <a:p>
            <a:pPr marL="0" indent="0">
              <a:buNone/>
            </a:pPr>
            <a:r>
              <a:rPr lang="en-US" sz="2400" b="1" dirty="0">
                <a:solidFill>
                  <a:schemeClr val="tx2"/>
                </a:solidFill>
              </a:rPr>
              <a:t>Information locale</a:t>
            </a:r>
            <a:endParaRPr lang="en-US" sz="2400" dirty="0"/>
          </a:p>
        </p:txBody>
      </p:sp>
      <p:sp>
        <p:nvSpPr>
          <p:cNvPr id="7" name="Text 4"/>
          <p:cNvSpPr txBox="1"/>
          <p:nvPr/>
        </p:nvSpPr>
        <p:spPr>
          <a:xfrm>
            <a:off x="868680" y="3429000"/>
            <a:ext cx="2862072" cy="1463040"/>
          </a:xfrm>
          <a:prstGeom prst="rect">
            <a:avLst/>
          </a:prstGeom>
          <a:noFill/>
          <a:ln/>
        </p:spPr>
        <p:txBody>
          <a:bodyPr wrap="square" lIns="0" tIns="0" rIns="0" bIns="0" rtlCol="0" anchor="t"/>
          <a:lstStyle/>
          <a:p>
            <a:pPr marL="0" indent="0">
              <a:buNone/>
            </a:pPr>
            <a:r>
              <a:rPr lang="en-US" sz="1800" dirty="0">
                <a:solidFill>
                  <a:srgbClr val="000000"/>
                </a:solidFill>
              </a:rPr>
              <a:t>Chaque docteur est le seul à connaître sa propre file d'attente.</a:t>
            </a:r>
            <a:endParaRPr lang="en-US" sz="1800" dirty="0"/>
          </a:p>
        </p:txBody>
      </p:sp>
      <p:sp>
        <p:nvSpPr>
          <p:cNvPr id="8" name="Carte Autonomie"/>
          <p:cNvSpPr/>
          <p:nvPr/>
        </p:nvSpPr>
        <p:spPr>
          <a:xfrm>
            <a:off x="4343400" y="1554480"/>
            <a:ext cx="3502152" cy="3474720"/>
          </a:xfrm>
          <a:prstGeom prst="roundRect">
            <a:avLst>
              <a:gd name="adj" fmla="val 3947"/>
            </a:avLst>
          </a:prstGeom>
          <a:solidFill>
            <a:schemeClr val="bg2"/>
          </a:solidFill>
          <a:ln/>
          <a:effectLst>
            <a:outerShdw blurRad="101600" dist="25400" dir="5400000" algn="bl" rotWithShape="0">
              <a:srgbClr val="000000">
                <a:alpha val="14000"/>
              </a:srgbClr>
            </a:outerShdw>
          </a:effectLst>
        </p:spPr>
      </p:sp>
      <p:sp>
        <p:nvSpPr>
          <p:cNvPr id="9" name="Cercle Autonomie"/>
          <p:cNvSpPr/>
          <p:nvPr/>
        </p:nvSpPr>
        <p:spPr>
          <a:xfrm>
            <a:off x="4663440" y="1874520"/>
            <a:ext cx="822960" cy="822960"/>
          </a:xfrm>
          <a:prstGeom prst="ellipse">
            <a:avLst/>
          </a:prstGeom>
          <a:solidFill>
            <a:schemeClr val="accent1"/>
          </a:solidFill>
          <a:ln/>
        </p:spPr>
      </p:sp>
      <p:pic>
        <p:nvPicPr>
          <p:cNvPr id="10" name="Icône Autonomie" descr="Autonomie"/>
          <p:cNvPicPr>
            <a:picLocks noChangeAspect="1"/>
          </p:cNvPicPr>
          <p:nvPr/>
        </p:nvPicPr>
        <p:blipFill>
          <a:blip r:embed="rId4"/>
          <a:stretch>
            <a:fillRect/>
          </a:stretch>
        </p:blipFill>
        <p:spPr>
          <a:xfrm>
            <a:off x="4869180" y="2080260"/>
            <a:ext cx="411480" cy="411480"/>
          </a:xfrm>
          <a:prstGeom prst="rect">
            <a:avLst/>
          </a:prstGeom>
        </p:spPr>
      </p:pic>
      <p:sp>
        <p:nvSpPr>
          <p:cNvPr id="11" name="Text 7"/>
          <p:cNvSpPr txBox="1"/>
          <p:nvPr/>
        </p:nvSpPr>
        <p:spPr>
          <a:xfrm>
            <a:off x="4663440" y="2880360"/>
            <a:ext cx="2862072" cy="457200"/>
          </a:xfrm>
          <a:prstGeom prst="rect">
            <a:avLst/>
          </a:prstGeom>
          <a:noFill/>
          <a:ln/>
        </p:spPr>
        <p:txBody>
          <a:bodyPr wrap="square" lIns="0" tIns="0" rIns="0" bIns="0" rtlCol="0" anchor="t"/>
          <a:lstStyle/>
          <a:p>
            <a:pPr marL="0" indent="0">
              <a:buNone/>
            </a:pPr>
            <a:r>
              <a:rPr lang="en-US" sz="2400" b="1" dirty="0">
                <a:solidFill>
                  <a:schemeClr val="tx2"/>
                </a:solidFill>
              </a:rPr>
              <a:t>Autonomie</a:t>
            </a:r>
            <a:endParaRPr lang="en-US" sz="2400" dirty="0"/>
          </a:p>
        </p:txBody>
      </p:sp>
      <p:sp>
        <p:nvSpPr>
          <p:cNvPr id="12" name="Text 8"/>
          <p:cNvSpPr txBox="1"/>
          <p:nvPr/>
        </p:nvSpPr>
        <p:spPr>
          <a:xfrm>
            <a:off x="4663440" y="3429000"/>
            <a:ext cx="2862072" cy="1463040"/>
          </a:xfrm>
          <a:prstGeom prst="rect">
            <a:avLst/>
          </a:prstGeom>
          <a:noFill/>
          <a:ln/>
        </p:spPr>
        <p:txBody>
          <a:bodyPr wrap="square" lIns="0" tIns="0" rIns="0" bIns="0" rtlCol="0" anchor="t"/>
          <a:lstStyle/>
          <a:p>
            <a:pPr marL="0" indent="0">
              <a:buNone/>
            </a:pPr>
            <a:r>
              <a:rPr lang="en-US" sz="1800" dirty="0">
                <a:solidFill>
                  <a:srgbClr val="000000"/>
                </a:solidFill>
              </a:rPr>
              <a:t>Chaque docteur décide lui-même d'accepter ou de refuser une demande.</a:t>
            </a:r>
            <a:endParaRPr lang="en-US" sz="1800" dirty="0"/>
          </a:p>
        </p:txBody>
      </p:sp>
      <p:sp>
        <p:nvSpPr>
          <p:cNvPr id="13" name="Carte Flexibilité"/>
          <p:cNvSpPr/>
          <p:nvPr/>
        </p:nvSpPr>
        <p:spPr>
          <a:xfrm>
            <a:off x="8138160" y="1554480"/>
            <a:ext cx="3502152" cy="3474720"/>
          </a:xfrm>
          <a:prstGeom prst="roundRect">
            <a:avLst>
              <a:gd name="adj" fmla="val 3947"/>
            </a:avLst>
          </a:prstGeom>
          <a:solidFill>
            <a:schemeClr val="bg2"/>
          </a:solidFill>
          <a:ln/>
          <a:effectLst>
            <a:outerShdw blurRad="101600" dist="25400" dir="5400000" algn="bl" rotWithShape="0">
              <a:srgbClr val="000000">
                <a:alpha val="14000"/>
              </a:srgbClr>
            </a:outerShdw>
          </a:effectLst>
        </p:spPr>
      </p:sp>
      <p:sp>
        <p:nvSpPr>
          <p:cNvPr id="14" name="Cercle Flexibilité"/>
          <p:cNvSpPr/>
          <p:nvPr/>
        </p:nvSpPr>
        <p:spPr>
          <a:xfrm>
            <a:off x="8458200" y="1874520"/>
            <a:ext cx="822960" cy="822960"/>
          </a:xfrm>
          <a:prstGeom prst="ellipse">
            <a:avLst/>
          </a:prstGeom>
          <a:solidFill>
            <a:schemeClr val="accent1"/>
          </a:solidFill>
          <a:ln/>
        </p:spPr>
      </p:sp>
      <p:pic>
        <p:nvPicPr>
          <p:cNvPr id="15" name="Icône Flexibilité" descr="Flexibilité"/>
          <p:cNvPicPr>
            <a:picLocks noChangeAspect="1"/>
          </p:cNvPicPr>
          <p:nvPr/>
        </p:nvPicPr>
        <p:blipFill>
          <a:blip r:embed="rId5"/>
          <a:stretch>
            <a:fillRect/>
          </a:stretch>
        </p:blipFill>
        <p:spPr>
          <a:xfrm>
            <a:off x="8663940" y="2080260"/>
            <a:ext cx="411480" cy="411480"/>
          </a:xfrm>
          <a:prstGeom prst="rect">
            <a:avLst/>
          </a:prstGeom>
        </p:spPr>
      </p:pic>
      <p:sp>
        <p:nvSpPr>
          <p:cNvPr id="16" name="Text 11"/>
          <p:cNvSpPr txBox="1"/>
          <p:nvPr/>
        </p:nvSpPr>
        <p:spPr>
          <a:xfrm>
            <a:off x="8458200" y="2880360"/>
            <a:ext cx="2862072" cy="457200"/>
          </a:xfrm>
          <a:prstGeom prst="rect">
            <a:avLst/>
          </a:prstGeom>
          <a:noFill/>
          <a:ln/>
        </p:spPr>
        <p:txBody>
          <a:bodyPr wrap="square" lIns="0" tIns="0" rIns="0" bIns="0" rtlCol="0" anchor="t"/>
          <a:lstStyle/>
          <a:p>
            <a:pPr marL="0" indent="0">
              <a:buNone/>
            </a:pPr>
            <a:r>
              <a:rPr lang="en-US" sz="2400" b="1" dirty="0">
                <a:solidFill>
                  <a:schemeClr val="tx2"/>
                </a:solidFill>
              </a:rPr>
              <a:t>Flexibilité</a:t>
            </a:r>
            <a:endParaRPr lang="en-US" sz="2400" dirty="0"/>
          </a:p>
        </p:txBody>
      </p:sp>
      <p:sp>
        <p:nvSpPr>
          <p:cNvPr id="17" name="Text 12"/>
          <p:cNvSpPr txBox="1"/>
          <p:nvPr/>
        </p:nvSpPr>
        <p:spPr>
          <a:xfrm>
            <a:off x="8458200" y="3429000"/>
            <a:ext cx="2862072" cy="1463040"/>
          </a:xfrm>
          <a:prstGeom prst="rect">
            <a:avLst/>
          </a:prstGeom>
          <a:noFill/>
          <a:ln/>
        </p:spPr>
        <p:txBody>
          <a:bodyPr wrap="square" lIns="0" tIns="0" rIns="0" bIns="0" rtlCol="0" anchor="t"/>
          <a:lstStyle/>
          <a:p>
            <a:pPr marL="0" indent="0">
              <a:buNone/>
            </a:pPr>
            <a:r>
              <a:rPr lang="en-US" sz="1800" dirty="0">
                <a:solidFill>
                  <a:srgbClr val="000000"/>
                </a:solidFill>
              </a:rPr>
              <a:t>On ajoute un docteur dans un fichier, sans toucher au code. L'annuaire DF fait le reste.</a:t>
            </a:r>
            <a:endParaRPr lang="en-US" sz="18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600" b="1" dirty="0">
                <a:solidFill>
                  <a:schemeClr val="tx2"/>
                </a:solidFill>
              </a:rPr>
              <a:t>Trois agents, trois rôles</a:t>
            </a:r>
            <a:endParaRPr lang="en-US" sz="3600" dirty="0"/>
          </a:p>
        </p:txBody>
      </p:sp>
      <p:sp>
        <p:nvSpPr>
          <p:cNvPr id="3" name="Carte Patient"/>
          <p:cNvSpPr/>
          <p:nvPr/>
        </p:nvSpPr>
        <p:spPr>
          <a:xfrm>
            <a:off x="548640" y="1463040"/>
            <a:ext cx="3502152" cy="3246120"/>
          </a:xfrm>
          <a:prstGeom prst="roundRect">
            <a:avLst>
              <a:gd name="adj" fmla="val 4225"/>
            </a:avLst>
          </a:prstGeom>
          <a:solidFill>
            <a:schemeClr val="bg2"/>
          </a:solidFill>
          <a:ln/>
          <a:effectLst>
            <a:outerShdw blurRad="101600" dist="25400" dir="5400000" algn="bl" rotWithShape="0">
              <a:srgbClr val="000000">
                <a:alpha val="14000"/>
              </a:srgbClr>
            </a:outerShdw>
          </a:effectLst>
        </p:spPr>
      </p:sp>
      <p:sp>
        <p:nvSpPr>
          <p:cNvPr id="4" name="Cercle Patient"/>
          <p:cNvSpPr/>
          <p:nvPr/>
        </p:nvSpPr>
        <p:spPr>
          <a:xfrm>
            <a:off x="868680" y="1737360"/>
            <a:ext cx="914400" cy="914400"/>
          </a:xfrm>
          <a:prstGeom prst="ellipse">
            <a:avLst/>
          </a:prstGeom>
          <a:solidFill>
            <a:schemeClr val="accent2"/>
          </a:solidFill>
          <a:ln/>
        </p:spPr>
      </p:sp>
      <p:pic>
        <p:nvPicPr>
          <p:cNvPr id="5" name="Icône Patient" descr="Patient"/>
          <p:cNvPicPr>
            <a:picLocks noChangeAspect="1"/>
          </p:cNvPicPr>
          <p:nvPr/>
        </p:nvPicPr>
        <p:blipFill>
          <a:blip r:embed="rId3"/>
          <a:stretch>
            <a:fillRect/>
          </a:stretch>
        </p:blipFill>
        <p:spPr>
          <a:xfrm>
            <a:off x="1097280" y="1965960"/>
            <a:ext cx="457200" cy="457200"/>
          </a:xfrm>
          <a:prstGeom prst="rect">
            <a:avLst/>
          </a:prstGeom>
        </p:spPr>
      </p:pic>
      <p:sp>
        <p:nvSpPr>
          <p:cNvPr id="6" name="Text 3"/>
          <p:cNvSpPr txBox="1"/>
          <p:nvPr/>
        </p:nvSpPr>
        <p:spPr>
          <a:xfrm>
            <a:off x="868680" y="2834640"/>
            <a:ext cx="2862072" cy="457200"/>
          </a:xfrm>
          <a:prstGeom prst="rect">
            <a:avLst/>
          </a:prstGeom>
          <a:noFill/>
          <a:ln/>
        </p:spPr>
        <p:txBody>
          <a:bodyPr wrap="square" lIns="0" tIns="0" rIns="0" bIns="0" rtlCol="0" anchor="t"/>
          <a:lstStyle/>
          <a:p>
            <a:pPr marL="0" indent="0">
              <a:buNone/>
            </a:pPr>
            <a:r>
              <a:rPr lang="en-US" sz="2400" b="1" dirty="0">
                <a:solidFill>
                  <a:schemeClr val="tx2"/>
                </a:solidFill>
              </a:rPr>
              <a:t>Patient</a:t>
            </a:r>
            <a:endParaRPr lang="en-US" sz="2400" dirty="0"/>
          </a:p>
        </p:txBody>
      </p:sp>
      <p:sp>
        <p:nvSpPr>
          <p:cNvPr id="7" name="Text 4"/>
          <p:cNvSpPr txBox="1"/>
          <p:nvPr/>
        </p:nvSpPr>
        <p:spPr>
          <a:xfrm>
            <a:off x="868680" y="3383280"/>
            <a:ext cx="2862072" cy="1280160"/>
          </a:xfrm>
          <a:prstGeom prst="rect">
            <a:avLst/>
          </a:prstGeom>
          <a:noFill/>
          <a:ln/>
        </p:spPr>
        <p:txBody>
          <a:bodyPr wrap="square" lIns="0" tIns="0" rIns="0" bIns="0" rtlCol="0" anchor="t"/>
          <a:lstStyle/>
          <a:p>
            <a:pPr marL="0" indent="0">
              <a:buNone/>
            </a:pPr>
            <a:r>
              <a:rPr lang="en-US" sz="1800" dirty="0">
                <a:solidFill>
                  <a:srgbClr val="000000"/>
                </a:solidFill>
              </a:rPr>
              <a:t>Arrive avec un symptôme et envoie sa demande à l'infirmier.</a:t>
            </a:r>
            <a:endParaRPr lang="en-US" sz="1800" dirty="0"/>
          </a:p>
        </p:txBody>
      </p:sp>
      <p:sp>
        <p:nvSpPr>
          <p:cNvPr id="8" name="Carte Infirmier"/>
          <p:cNvSpPr/>
          <p:nvPr/>
        </p:nvSpPr>
        <p:spPr>
          <a:xfrm>
            <a:off x="4343400" y="1463040"/>
            <a:ext cx="3502152" cy="3246120"/>
          </a:xfrm>
          <a:prstGeom prst="roundRect">
            <a:avLst>
              <a:gd name="adj" fmla="val 4225"/>
            </a:avLst>
          </a:prstGeom>
          <a:solidFill>
            <a:schemeClr val="bg2"/>
          </a:solidFill>
          <a:ln/>
          <a:effectLst>
            <a:outerShdw blurRad="101600" dist="25400" dir="5400000" algn="bl" rotWithShape="0">
              <a:srgbClr val="000000">
                <a:alpha val="14000"/>
              </a:srgbClr>
            </a:outerShdw>
          </a:effectLst>
        </p:spPr>
      </p:sp>
      <p:sp>
        <p:nvSpPr>
          <p:cNvPr id="9" name="Cercle Infirmier"/>
          <p:cNvSpPr/>
          <p:nvPr/>
        </p:nvSpPr>
        <p:spPr>
          <a:xfrm>
            <a:off x="4663440" y="1737360"/>
            <a:ext cx="914400" cy="914400"/>
          </a:xfrm>
          <a:prstGeom prst="ellipse">
            <a:avLst/>
          </a:prstGeom>
          <a:solidFill>
            <a:schemeClr val="accent1"/>
          </a:solidFill>
          <a:ln/>
        </p:spPr>
      </p:sp>
      <p:pic>
        <p:nvPicPr>
          <p:cNvPr id="10" name="Icône Infirmier" descr="Infirmier"/>
          <p:cNvPicPr>
            <a:picLocks noChangeAspect="1"/>
          </p:cNvPicPr>
          <p:nvPr/>
        </p:nvPicPr>
        <p:blipFill>
          <a:blip r:embed="rId4"/>
          <a:stretch>
            <a:fillRect/>
          </a:stretch>
        </p:blipFill>
        <p:spPr>
          <a:xfrm>
            <a:off x="4892040" y="1965960"/>
            <a:ext cx="457200" cy="457200"/>
          </a:xfrm>
          <a:prstGeom prst="rect">
            <a:avLst/>
          </a:prstGeom>
        </p:spPr>
      </p:pic>
      <p:sp>
        <p:nvSpPr>
          <p:cNvPr id="11" name="Text 7"/>
          <p:cNvSpPr txBox="1"/>
          <p:nvPr/>
        </p:nvSpPr>
        <p:spPr>
          <a:xfrm>
            <a:off x="4663440" y="2834640"/>
            <a:ext cx="2862072" cy="457200"/>
          </a:xfrm>
          <a:prstGeom prst="rect">
            <a:avLst/>
          </a:prstGeom>
          <a:noFill/>
          <a:ln/>
        </p:spPr>
        <p:txBody>
          <a:bodyPr wrap="square" lIns="0" tIns="0" rIns="0" bIns="0" rtlCol="0" anchor="t"/>
          <a:lstStyle/>
          <a:p>
            <a:pPr marL="0" indent="0">
              <a:buNone/>
            </a:pPr>
            <a:r>
              <a:rPr lang="en-US" sz="2400" b="1" dirty="0">
                <a:solidFill>
                  <a:schemeClr val="tx2"/>
                </a:solidFill>
              </a:rPr>
              <a:t>Infirmier</a:t>
            </a:r>
            <a:endParaRPr lang="en-US" sz="2400" dirty="0"/>
          </a:p>
        </p:txBody>
      </p:sp>
      <p:sp>
        <p:nvSpPr>
          <p:cNvPr id="12" name="Text 8"/>
          <p:cNvSpPr txBox="1"/>
          <p:nvPr/>
        </p:nvSpPr>
        <p:spPr>
          <a:xfrm>
            <a:off x="4663440" y="3383280"/>
            <a:ext cx="2862072" cy="1280160"/>
          </a:xfrm>
          <a:prstGeom prst="rect">
            <a:avLst/>
          </a:prstGeom>
          <a:noFill/>
          <a:ln/>
        </p:spPr>
        <p:txBody>
          <a:bodyPr wrap="square" lIns="0" tIns="0" rIns="0" bIns="0" rtlCol="0" anchor="t"/>
          <a:lstStyle/>
          <a:p>
            <a:pPr marL="0" indent="0">
              <a:buNone/>
            </a:pPr>
            <a:r>
              <a:rPr lang="en-US" sz="1800" dirty="0">
                <a:solidFill>
                  <a:srgbClr val="000000"/>
                </a:solidFill>
              </a:rPr>
              <a:t>Fait le triage (urgence de 1 à 5), cherche les docteurs et choisit le meilleur.</a:t>
            </a:r>
            <a:endParaRPr lang="en-US" sz="1800" dirty="0"/>
          </a:p>
        </p:txBody>
      </p:sp>
      <p:sp>
        <p:nvSpPr>
          <p:cNvPr id="13" name="Carte Docteur"/>
          <p:cNvSpPr/>
          <p:nvPr/>
        </p:nvSpPr>
        <p:spPr>
          <a:xfrm>
            <a:off x="8138160" y="1463040"/>
            <a:ext cx="3502152" cy="3246120"/>
          </a:xfrm>
          <a:prstGeom prst="roundRect">
            <a:avLst>
              <a:gd name="adj" fmla="val 4225"/>
            </a:avLst>
          </a:prstGeom>
          <a:solidFill>
            <a:schemeClr val="bg2"/>
          </a:solidFill>
          <a:ln/>
          <a:effectLst>
            <a:outerShdw blurRad="101600" dist="25400" dir="5400000" algn="bl" rotWithShape="0">
              <a:srgbClr val="000000">
                <a:alpha val="14000"/>
              </a:srgbClr>
            </a:outerShdw>
          </a:effectLst>
        </p:spPr>
      </p:sp>
      <p:sp>
        <p:nvSpPr>
          <p:cNvPr id="14" name="Cercle Docteur"/>
          <p:cNvSpPr/>
          <p:nvPr/>
        </p:nvSpPr>
        <p:spPr>
          <a:xfrm>
            <a:off x="8458200" y="1737360"/>
            <a:ext cx="914400" cy="914400"/>
          </a:xfrm>
          <a:prstGeom prst="ellipse">
            <a:avLst/>
          </a:prstGeom>
          <a:solidFill>
            <a:schemeClr val="accent6"/>
          </a:solidFill>
          <a:ln/>
        </p:spPr>
      </p:sp>
      <p:pic>
        <p:nvPicPr>
          <p:cNvPr id="15" name="Icône Docteur" descr="Docteur"/>
          <p:cNvPicPr>
            <a:picLocks noChangeAspect="1"/>
          </p:cNvPicPr>
          <p:nvPr/>
        </p:nvPicPr>
        <p:blipFill>
          <a:blip r:embed="rId5"/>
          <a:stretch>
            <a:fillRect/>
          </a:stretch>
        </p:blipFill>
        <p:spPr>
          <a:xfrm>
            <a:off x="8686800" y="1965960"/>
            <a:ext cx="457200" cy="457200"/>
          </a:xfrm>
          <a:prstGeom prst="rect">
            <a:avLst/>
          </a:prstGeom>
        </p:spPr>
      </p:pic>
      <p:sp>
        <p:nvSpPr>
          <p:cNvPr id="16" name="Text 11"/>
          <p:cNvSpPr txBox="1"/>
          <p:nvPr/>
        </p:nvSpPr>
        <p:spPr>
          <a:xfrm>
            <a:off x="8458200" y="2834640"/>
            <a:ext cx="2862072" cy="457200"/>
          </a:xfrm>
          <a:prstGeom prst="rect">
            <a:avLst/>
          </a:prstGeom>
          <a:noFill/>
          <a:ln/>
        </p:spPr>
        <p:txBody>
          <a:bodyPr wrap="square" lIns="0" tIns="0" rIns="0" bIns="0" rtlCol="0" anchor="t"/>
          <a:lstStyle/>
          <a:p>
            <a:pPr marL="0" indent="0">
              <a:buNone/>
            </a:pPr>
            <a:r>
              <a:rPr lang="en-US" sz="2400" b="1" dirty="0">
                <a:solidFill>
                  <a:schemeClr val="tx2"/>
                </a:solidFill>
              </a:rPr>
              <a:t>Docteur</a:t>
            </a:r>
            <a:endParaRPr lang="en-US" sz="2400" dirty="0"/>
          </a:p>
        </p:txBody>
      </p:sp>
      <p:sp>
        <p:nvSpPr>
          <p:cNvPr id="17" name="Text 12"/>
          <p:cNvSpPr txBox="1"/>
          <p:nvPr/>
        </p:nvSpPr>
        <p:spPr>
          <a:xfrm>
            <a:off x="8458200" y="3383280"/>
            <a:ext cx="2862072" cy="1280160"/>
          </a:xfrm>
          <a:prstGeom prst="rect">
            <a:avLst/>
          </a:prstGeom>
          <a:noFill/>
          <a:ln/>
        </p:spPr>
        <p:txBody>
          <a:bodyPr wrap="square" lIns="0" tIns="0" rIns="0" bIns="0" rtlCol="0" anchor="t"/>
          <a:lstStyle/>
          <a:p>
            <a:pPr marL="0" indent="0">
              <a:buNone/>
            </a:pPr>
            <a:r>
              <a:rPr lang="en-US" sz="1800" dirty="0">
                <a:solidFill>
                  <a:srgbClr val="000000"/>
                </a:solidFill>
              </a:rPr>
              <a:t>Publie sa spécialité, répond aux appels et décide selon sa charge de travail.</a:t>
            </a:r>
            <a:endParaRPr lang="en-US" sz="1800" dirty="0"/>
          </a:p>
        </p:txBody>
      </p:sp>
      <p:sp>
        <p:nvSpPr>
          <p:cNvPr id="18" name="Bandeau DF"/>
          <p:cNvSpPr/>
          <p:nvPr/>
        </p:nvSpPr>
        <p:spPr>
          <a:xfrm>
            <a:off x="548640" y="4937760"/>
            <a:ext cx="11091672" cy="777240"/>
          </a:xfrm>
          <a:prstGeom prst="roundRect">
            <a:avLst>
              <a:gd name="adj" fmla="val 17647"/>
            </a:avLst>
          </a:prstGeom>
          <a:solidFill>
            <a:schemeClr val="bg2"/>
          </a:solidFill>
          <a:ln/>
          <a:effectLst>
            <a:outerShdw blurRad="101600" dist="25400" dir="5400000" algn="bl" rotWithShape="0">
              <a:srgbClr val="000000">
                <a:alpha val="14000"/>
              </a:srgbClr>
            </a:outerShdw>
          </a:effectLst>
        </p:spPr>
      </p:sp>
      <p:sp>
        <p:nvSpPr>
          <p:cNvPr id="19" name="Cercle annuaire DF"/>
          <p:cNvSpPr/>
          <p:nvPr/>
        </p:nvSpPr>
        <p:spPr>
          <a:xfrm>
            <a:off x="777240" y="5074920"/>
            <a:ext cx="502920" cy="502920"/>
          </a:xfrm>
          <a:prstGeom prst="ellipse">
            <a:avLst/>
          </a:prstGeom>
          <a:solidFill>
            <a:schemeClr val="accent1"/>
          </a:solidFill>
          <a:ln/>
        </p:spPr>
      </p:sp>
      <p:pic>
        <p:nvPicPr>
          <p:cNvPr id="20" name="Icône annuaire DF" descr="annuaire DF"/>
          <p:cNvPicPr>
            <a:picLocks noChangeAspect="1"/>
          </p:cNvPicPr>
          <p:nvPr/>
        </p:nvPicPr>
        <p:blipFill>
          <a:blip r:embed="rId6"/>
          <a:stretch>
            <a:fillRect/>
          </a:stretch>
        </p:blipFill>
        <p:spPr>
          <a:xfrm>
            <a:off x="902970" y="5200650"/>
            <a:ext cx="251460" cy="251460"/>
          </a:xfrm>
          <a:prstGeom prst="rect">
            <a:avLst/>
          </a:prstGeom>
        </p:spPr>
      </p:pic>
      <p:sp>
        <p:nvSpPr>
          <p:cNvPr id="21" name="Text 15"/>
          <p:cNvSpPr txBox="1"/>
          <p:nvPr/>
        </p:nvSpPr>
        <p:spPr>
          <a:xfrm>
            <a:off x="1508760" y="4937760"/>
            <a:ext cx="9875520" cy="777240"/>
          </a:xfrm>
          <a:prstGeom prst="rect">
            <a:avLst/>
          </a:prstGeom>
          <a:noFill/>
          <a:ln/>
        </p:spPr>
        <p:txBody>
          <a:bodyPr wrap="square" lIns="0" tIns="0" rIns="0" bIns="0" rtlCol="0" anchor="ctr"/>
          <a:lstStyle/>
          <a:p>
            <a:pPr marL="0" indent="0">
              <a:buNone/>
            </a:pPr>
            <a:r>
              <a:rPr lang="en-US" sz="1600" b="1" dirty="0">
                <a:solidFill>
                  <a:srgbClr val="000000"/>
                </a:solidFill>
              </a:rPr>
              <a:t>Annuaire DF (pages jaunes) : </a:t>
            </a:r>
            <a:r>
              <a:rPr lang="en-US" sz="1600" dirty="0">
                <a:solidFill>
                  <a:srgbClr val="000000"/>
                </a:solidFill>
              </a:rPr>
              <a:t>les docteurs y publient leur spécialité, l'infirmier les y retrouve.</a:t>
            </a:r>
            <a:endParaRPr lang="en-US" sz="16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p:cNvSpPr txBox="1"/>
          <p:nvPr/>
        </p:nvSpPr>
        <p:spPr>
          <a:xfrm>
            <a:off x="411480" y="201168"/>
            <a:ext cx="86868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Diagramme de séquence : prise de rendez-vous</a:t>
            </a:r>
            <a:endParaRPr lang="en-US" sz="2600" dirty="0"/>
          </a:p>
        </p:txBody>
      </p:sp>
      <p:sp>
        <p:nvSpPr>
          <p:cNvPr id="3" name="Sous-titre"/>
          <p:cNvSpPr txBox="1"/>
          <p:nvPr/>
        </p:nvSpPr>
        <p:spPr>
          <a:xfrm>
            <a:off x="411480" y="640080"/>
            <a:ext cx="8412480" cy="274320"/>
          </a:xfrm>
          <a:prstGeom prst="rect">
            <a:avLst/>
          </a:prstGeom>
          <a:noFill/>
          <a:ln/>
        </p:spPr>
        <p:txBody>
          <a:bodyPr wrap="square" lIns="0" tIns="0" rIns="0" bIns="0" rtlCol="0" anchor="ctr"/>
          <a:lstStyle/>
          <a:p>
            <a:pPr marL="0" indent="0">
              <a:buNone/>
            </a:pPr>
            <a:r>
              <a:rPr lang="en-US" sz="1400" i="1" dirty="0" err="1">
                <a:solidFill>
                  <a:srgbClr val="595959"/>
                </a:solidFill>
                <a:latin typeface="Calibri" pitchFamily="34" charset="0"/>
                <a:ea typeface="Calibri" pitchFamily="34" charset="-122"/>
                <a:cs typeface="Calibri" pitchFamily="34" charset="-120"/>
              </a:rPr>
              <a:t>enregistrement</a:t>
            </a:r>
            <a:r>
              <a:rPr lang="en-US" sz="1400" i="1" dirty="0">
                <a:solidFill>
                  <a:srgbClr val="595959"/>
                </a:solidFill>
                <a:latin typeface="Calibri" pitchFamily="34" charset="0"/>
                <a:ea typeface="Calibri" pitchFamily="34" charset="-122"/>
                <a:cs typeface="Calibri" pitchFamily="34" charset="-120"/>
              </a:rPr>
              <a:t> AMS/DF, puis négociation FIPA Contract Net</a:t>
            </a:r>
            <a:endParaRPr lang="en-US" sz="1400" dirty="0"/>
          </a:p>
        </p:txBody>
      </p:sp>
      <p:sp>
        <p:nvSpPr>
          <p:cNvPr id="4" name="Shape 2"/>
          <p:cNvSpPr/>
          <p:nvPr/>
        </p:nvSpPr>
        <p:spPr>
          <a:xfrm>
            <a:off x="9281160" y="384048"/>
            <a:ext cx="548640" cy="0"/>
          </a:xfrm>
          <a:prstGeom prst="line">
            <a:avLst/>
          </a:prstGeom>
          <a:noFill/>
          <a:ln w="19050">
            <a:solidFill>
              <a:srgbClr val="7F7F7F"/>
            </a:solidFill>
            <a:prstDash val="solid"/>
            <a:tailEnd type="arrow"/>
          </a:ln>
        </p:spPr>
      </p:sp>
      <p:sp>
        <p:nvSpPr>
          <p:cNvPr id="5" name="Text 3"/>
          <p:cNvSpPr txBox="1"/>
          <p:nvPr/>
        </p:nvSpPr>
        <p:spPr>
          <a:xfrm>
            <a:off x="9939528" y="292608"/>
            <a:ext cx="1737360" cy="182880"/>
          </a:xfrm>
          <a:prstGeom prst="rect">
            <a:avLst/>
          </a:prstGeom>
          <a:noFill/>
          <a:ln/>
        </p:spPr>
        <p:txBody>
          <a:bodyPr wrap="square" lIns="0" tIns="0" rIns="0" bIns="0" rtlCol="0" anchor="ctr"/>
          <a:lstStyle/>
          <a:p>
            <a:pPr marL="0" indent="0">
              <a:buNone/>
            </a:pPr>
            <a:r>
              <a:rPr lang="en-US" sz="1100" dirty="0">
                <a:solidFill>
                  <a:srgbClr val="404040"/>
                </a:solidFill>
                <a:latin typeface="Calibri" pitchFamily="34" charset="0"/>
                <a:ea typeface="Calibri" pitchFamily="34" charset="-122"/>
                <a:cs typeface="Calibri" pitchFamily="34" charset="-120"/>
              </a:rPr>
              <a:t>Message envoyé</a:t>
            </a:r>
            <a:endParaRPr lang="en-US" sz="1100" dirty="0"/>
          </a:p>
        </p:txBody>
      </p:sp>
      <p:sp>
        <p:nvSpPr>
          <p:cNvPr id="6" name="Shape 4"/>
          <p:cNvSpPr/>
          <p:nvPr/>
        </p:nvSpPr>
        <p:spPr>
          <a:xfrm>
            <a:off x="9281160" y="685800"/>
            <a:ext cx="548640" cy="0"/>
          </a:xfrm>
          <a:prstGeom prst="line">
            <a:avLst/>
          </a:prstGeom>
          <a:noFill/>
          <a:ln w="19050">
            <a:solidFill>
              <a:srgbClr val="7F7F7F"/>
            </a:solidFill>
            <a:prstDash val="dash"/>
            <a:tailEnd type="arrow"/>
          </a:ln>
        </p:spPr>
      </p:sp>
      <p:sp>
        <p:nvSpPr>
          <p:cNvPr id="7" name="Text 5"/>
          <p:cNvSpPr txBox="1"/>
          <p:nvPr/>
        </p:nvSpPr>
        <p:spPr>
          <a:xfrm>
            <a:off x="9939528" y="594360"/>
            <a:ext cx="1737360" cy="182880"/>
          </a:xfrm>
          <a:prstGeom prst="rect">
            <a:avLst/>
          </a:prstGeom>
          <a:noFill/>
          <a:ln/>
        </p:spPr>
        <p:txBody>
          <a:bodyPr wrap="square" lIns="0" tIns="0" rIns="0" bIns="0" rtlCol="0" anchor="ctr"/>
          <a:lstStyle/>
          <a:p>
            <a:pPr marL="0" indent="0">
              <a:buNone/>
            </a:pPr>
            <a:r>
              <a:rPr lang="en-US" sz="1100" dirty="0">
                <a:solidFill>
                  <a:srgbClr val="404040"/>
                </a:solidFill>
                <a:latin typeface="Calibri" pitchFamily="34" charset="0"/>
                <a:ea typeface="Calibri" pitchFamily="34" charset="-122"/>
                <a:cs typeface="Calibri" pitchFamily="34" charset="-120"/>
              </a:rPr>
              <a:t>Réponse</a:t>
            </a:r>
            <a:endParaRPr lang="en-US" sz="1100" dirty="0"/>
          </a:p>
        </p:txBody>
      </p:sp>
      <p:sp>
        <p:nvSpPr>
          <p:cNvPr id="8" name="Shape 6"/>
          <p:cNvSpPr/>
          <p:nvPr/>
        </p:nvSpPr>
        <p:spPr>
          <a:xfrm>
            <a:off x="1144959" y="1435608"/>
            <a:ext cx="0" cy="5193792"/>
          </a:xfrm>
          <a:prstGeom prst="line">
            <a:avLst/>
          </a:prstGeom>
          <a:noFill/>
          <a:ln w="9525">
            <a:solidFill>
              <a:srgbClr val="BFBFBF"/>
            </a:solidFill>
            <a:prstDash val="dash"/>
          </a:ln>
        </p:spPr>
      </p:sp>
      <p:sp>
        <p:nvSpPr>
          <p:cNvPr id="9" name="Shape 7"/>
          <p:cNvSpPr/>
          <p:nvPr/>
        </p:nvSpPr>
        <p:spPr>
          <a:xfrm>
            <a:off x="2794798" y="1435608"/>
            <a:ext cx="0" cy="5193792"/>
          </a:xfrm>
          <a:prstGeom prst="line">
            <a:avLst/>
          </a:prstGeom>
          <a:noFill/>
          <a:ln w="9525">
            <a:solidFill>
              <a:srgbClr val="BFBFBF"/>
            </a:solidFill>
            <a:prstDash val="dash"/>
          </a:ln>
        </p:spPr>
      </p:sp>
      <p:sp>
        <p:nvSpPr>
          <p:cNvPr id="10" name="Shape 8"/>
          <p:cNvSpPr/>
          <p:nvPr/>
        </p:nvSpPr>
        <p:spPr>
          <a:xfrm>
            <a:off x="4444637" y="1435608"/>
            <a:ext cx="0" cy="5193792"/>
          </a:xfrm>
          <a:prstGeom prst="line">
            <a:avLst/>
          </a:prstGeom>
          <a:noFill/>
          <a:ln w="9525">
            <a:solidFill>
              <a:srgbClr val="BFBFBF"/>
            </a:solidFill>
            <a:prstDash val="dash"/>
          </a:ln>
        </p:spPr>
      </p:sp>
      <p:sp>
        <p:nvSpPr>
          <p:cNvPr id="11" name="Shape 9"/>
          <p:cNvSpPr/>
          <p:nvPr/>
        </p:nvSpPr>
        <p:spPr>
          <a:xfrm>
            <a:off x="6094476" y="1435608"/>
            <a:ext cx="0" cy="5193792"/>
          </a:xfrm>
          <a:prstGeom prst="line">
            <a:avLst/>
          </a:prstGeom>
          <a:noFill/>
          <a:ln w="9525">
            <a:solidFill>
              <a:srgbClr val="BFBFBF"/>
            </a:solidFill>
            <a:prstDash val="dash"/>
          </a:ln>
        </p:spPr>
      </p:sp>
      <p:sp>
        <p:nvSpPr>
          <p:cNvPr id="12" name="Shape 10"/>
          <p:cNvSpPr/>
          <p:nvPr/>
        </p:nvSpPr>
        <p:spPr>
          <a:xfrm>
            <a:off x="7744315" y="1435608"/>
            <a:ext cx="0" cy="5193792"/>
          </a:xfrm>
          <a:prstGeom prst="line">
            <a:avLst/>
          </a:prstGeom>
          <a:noFill/>
          <a:ln w="9525">
            <a:solidFill>
              <a:srgbClr val="BFBFBF"/>
            </a:solidFill>
            <a:prstDash val="dash"/>
          </a:ln>
        </p:spPr>
      </p:sp>
      <p:sp>
        <p:nvSpPr>
          <p:cNvPr id="13" name="Shape 11"/>
          <p:cNvSpPr/>
          <p:nvPr/>
        </p:nvSpPr>
        <p:spPr>
          <a:xfrm>
            <a:off x="9394154" y="1435608"/>
            <a:ext cx="0" cy="5193792"/>
          </a:xfrm>
          <a:prstGeom prst="line">
            <a:avLst/>
          </a:prstGeom>
          <a:noFill/>
          <a:ln w="9525">
            <a:solidFill>
              <a:srgbClr val="BFBFBF"/>
            </a:solidFill>
            <a:prstDash val="dash"/>
          </a:ln>
        </p:spPr>
      </p:sp>
      <p:sp>
        <p:nvSpPr>
          <p:cNvPr id="14" name="Shape 12"/>
          <p:cNvSpPr/>
          <p:nvPr/>
        </p:nvSpPr>
        <p:spPr>
          <a:xfrm>
            <a:off x="11043993" y="1435608"/>
            <a:ext cx="0" cy="5193792"/>
          </a:xfrm>
          <a:prstGeom prst="line">
            <a:avLst/>
          </a:prstGeom>
          <a:noFill/>
          <a:ln w="9525">
            <a:solidFill>
              <a:srgbClr val="BFBFBF"/>
            </a:solidFill>
            <a:prstDash val="dash"/>
          </a:ln>
        </p:spPr>
      </p:sp>
      <p:sp>
        <p:nvSpPr>
          <p:cNvPr id="15" name="Lifeline Patient"/>
          <p:cNvSpPr/>
          <p:nvPr/>
        </p:nvSpPr>
        <p:spPr>
          <a:xfrm>
            <a:off x="436299" y="1024128"/>
            <a:ext cx="1417320" cy="411480"/>
          </a:xfrm>
          <a:prstGeom prst="roundRect">
            <a:avLst>
              <a:gd name="adj" fmla="val 22222"/>
            </a:avLst>
          </a:prstGeom>
          <a:solidFill>
            <a:srgbClr val="F1EFE8"/>
          </a:solidFill>
          <a:ln w="12700">
            <a:solidFill>
              <a:srgbClr val="8A8880"/>
            </a:solidFill>
          </a:ln>
        </p:spPr>
        <p:txBody>
          <a:bodyPr wrap="square" lIns="0" tIns="0" rIns="0" bIns="0" rtlCol="0" anchor="ctr"/>
          <a:lstStyle/>
          <a:p>
            <a:pPr marL="0" indent="0" algn="ctr">
              <a:buNone/>
            </a:pPr>
            <a:r>
              <a:rPr lang="en-US" sz="1600" b="1" dirty="0">
                <a:solidFill>
                  <a:srgbClr val="444441"/>
                </a:solidFill>
                <a:latin typeface="Calibri" pitchFamily="34" charset="0"/>
                <a:ea typeface="Calibri" pitchFamily="34" charset="-122"/>
                <a:cs typeface="Calibri" pitchFamily="34" charset="-120"/>
              </a:rPr>
              <a:t>Patient</a:t>
            </a:r>
            <a:endParaRPr lang="en-US" sz="1600" dirty="0"/>
          </a:p>
        </p:txBody>
      </p:sp>
      <p:sp>
        <p:nvSpPr>
          <p:cNvPr id="16" name="Lifeline Infirmier"/>
          <p:cNvSpPr/>
          <p:nvPr/>
        </p:nvSpPr>
        <p:spPr>
          <a:xfrm>
            <a:off x="2086138" y="1024128"/>
            <a:ext cx="1417320" cy="411480"/>
          </a:xfrm>
          <a:prstGeom prst="roundRect">
            <a:avLst>
              <a:gd name="adj" fmla="val 22222"/>
            </a:avLst>
          </a:prstGeom>
          <a:solidFill>
            <a:srgbClr val="EEEDFE"/>
          </a:solidFill>
          <a:ln w="12700">
            <a:solidFill>
              <a:srgbClr val="534AB7"/>
            </a:solidFill>
          </a:ln>
        </p:spPr>
        <p:txBody>
          <a:bodyPr wrap="square" lIns="0" tIns="0" rIns="0" bIns="0" rtlCol="0" anchor="ctr"/>
          <a:lstStyle/>
          <a:p>
            <a:pPr marL="0" indent="0" algn="ctr">
              <a:buNone/>
            </a:pPr>
            <a:r>
              <a:rPr lang="en-US" sz="1600" b="1" dirty="0">
                <a:solidFill>
                  <a:srgbClr val="3C3489"/>
                </a:solidFill>
                <a:latin typeface="Calibri" pitchFamily="34" charset="0"/>
                <a:ea typeface="Calibri" pitchFamily="34" charset="-122"/>
                <a:cs typeface="Calibri" pitchFamily="34" charset="-120"/>
              </a:rPr>
              <a:t>Infirmier</a:t>
            </a:r>
            <a:endParaRPr lang="en-US" sz="1600" dirty="0"/>
          </a:p>
        </p:txBody>
      </p:sp>
      <p:sp>
        <p:nvSpPr>
          <p:cNvPr id="17" name="Lifeline AMS"/>
          <p:cNvSpPr/>
          <p:nvPr/>
        </p:nvSpPr>
        <p:spPr>
          <a:xfrm>
            <a:off x="3735977" y="1024128"/>
            <a:ext cx="1417320" cy="411480"/>
          </a:xfrm>
          <a:prstGeom prst="roundRect">
            <a:avLst>
              <a:gd name="adj" fmla="val 22222"/>
            </a:avLst>
          </a:prstGeom>
          <a:solidFill>
            <a:srgbClr val="F1EFE8"/>
          </a:solidFill>
          <a:ln w="12700">
            <a:solidFill>
              <a:srgbClr val="8A8880"/>
            </a:solidFill>
          </a:ln>
        </p:spPr>
        <p:txBody>
          <a:bodyPr wrap="square" lIns="0" tIns="0" rIns="0" bIns="0" rtlCol="0" anchor="ctr"/>
          <a:lstStyle/>
          <a:p>
            <a:pPr marL="0" indent="0" algn="ctr">
              <a:buNone/>
            </a:pPr>
            <a:r>
              <a:rPr lang="en-US" sz="1600" b="1" dirty="0">
                <a:solidFill>
                  <a:srgbClr val="444441"/>
                </a:solidFill>
                <a:latin typeface="Calibri" pitchFamily="34" charset="0"/>
                <a:ea typeface="Calibri" pitchFamily="34" charset="-122"/>
                <a:cs typeface="Calibri" pitchFamily="34" charset="-120"/>
              </a:rPr>
              <a:t>AMS</a:t>
            </a:r>
            <a:endParaRPr lang="en-US" sz="1600" dirty="0"/>
          </a:p>
        </p:txBody>
      </p:sp>
      <p:sp>
        <p:nvSpPr>
          <p:cNvPr id="18" name="Lifeline DF"/>
          <p:cNvSpPr/>
          <p:nvPr/>
        </p:nvSpPr>
        <p:spPr>
          <a:xfrm>
            <a:off x="5385816" y="1024128"/>
            <a:ext cx="1417320" cy="411480"/>
          </a:xfrm>
          <a:prstGeom prst="roundRect">
            <a:avLst>
              <a:gd name="adj" fmla="val 22222"/>
            </a:avLst>
          </a:prstGeom>
          <a:solidFill>
            <a:srgbClr val="F1EFE8"/>
          </a:solidFill>
          <a:ln w="12700">
            <a:solidFill>
              <a:srgbClr val="8A8880"/>
            </a:solidFill>
          </a:ln>
        </p:spPr>
        <p:txBody>
          <a:bodyPr wrap="square" lIns="0" tIns="0" rIns="0" bIns="0" rtlCol="0" anchor="ctr"/>
          <a:lstStyle/>
          <a:p>
            <a:pPr marL="0" indent="0" algn="ctr">
              <a:buNone/>
            </a:pPr>
            <a:r>
              <a:rPr lang="en-US" sz="1600" b="1" dirty="0">
                <a:solidFill>
                  <a:srgbClr val="444441"/>
                </a:solidFill>
                <a:latin typeface="Calibri" pitchFamily="34" charset="0"/>
                <a:ea typeface="Calibri" pitchFamily="34" charset="-122"/>
                <a:cs typeface="Calibri" pitchFamily="34" charset="-120"/>
              </a:rPr>
              <a:t>DF</a:t>
            </a:r>
            <a:endParaRPr lang="en-US" sz="1600" dirty="0"/>
          </a:p>
        </p:txBody>
      </p:sp>
      <p:sp>
        <p:nvSpPr>
          <p:cNvPr id="19" name="Lifeline Docteur 1"/>
          <p:cNvSpPr/>
          <p:nvPr/>
        </p:nvSpPr>
        <p:spPr>
          <a:xfrm>
            <a:off x="7035655" y="1024128"/>
            <a:ext cx="1417320" cy="411480"/>
          </a:xfrm>
          <a:prstGeom prst="roundRect">
            <a:avLst>
              <a:gd name="adj" fmla="val 22222"/>
            </a:avLst>
          </a:prstGeom>
          <a:solidFill>
            <a:srgbClr val="E1F5EE"/>
          </a:solidFill>
          <a:ln w="12700">
            <a:solidFill>
              <a:srgbClr val="0F6E56"/>
            </a:solidFill>
          </a:ln>
        </p:spPr>
        <p:txBody>
          <a:bodyPr wrap="square" lIns="0" tIns="0" rIns="0" bIns="0" rtlCol="0" anchor="ctr"/>
          <a:lstStyle/>
          <a:p>
            <a:pPr marL="0" indent="0" algn="ctr">
              <a:buNone/>
            </a:pPr>
            <a:r>
              <a:rPr lang="en-US" sz="1600" b="1" dirty="0">
                <a:solidFill>
                  <a:srgbClr val="085041"/>
                </a:solidFill>
                <a:latin typeface="Calibri" pitchFamily="34" charset="0"/>
                <a:ea typeface="Calibri" pitchFamily="34" charset="-122"/>
                <a:cs typeface="Calibri" pitchFamily="34" charset="-120"/>
              </a:rPr>
              <a:t>Docteur 1</a:t>
            </a:r>
            <a:endParaRPr lang="en-US" sz="1600" dirty="0"/>
          </a:p>
        </p:txBody>
      </p:sp>
      <p:sp>
        <p:nvSpPr>
          <p:cNvPr id="20" name="Lifeline Docteur 2"/>
          <p:cNvSpPr/>
          <p:nvPr/>
        </p:nvSpPr>
        <p:spPr>
          <a:xfrm>
            <a:off x="8685494" y="1024128"/>
            <a:ext cx="1417320" cy="411480"/>
          </a:xfrm>
          <a:prstGeom prst="roundRect">
            <a:avLst>
              <a:gd name="adj" fmla="val 22222"/>
            </a:avLst>
          </a:prstGeom>
          <a:solidFill>
            <a:srgbClr val="E1F5EE"/>
          </a:solidFill>
          <a:ln w="12700">
            <a:solidFill>
              <a:srgbClr val="0F6E56"/>
            </a:solidFill>
          </a:ln>
        </p:spPr>
        <p:txBody>
          <a:bodyPr wrap="square" lIns="0" tIns="0" rIns="0" bIns="0" rtlCol="0" anchor="ctr"/>
          <a:lstStyle/>
          <a:p>
            <a:pPr marL="0" indent="0" algn="ctr">
              <a:buNone/>
            </a:pPr>
            <a:r>
              <a:rPr lang="en-US" sz="1600" b="1" dirty="0">
                <a:solidFill>
                  <a:srgbClr val="085041"/>
                </a:solidFill>
                <a:latin typeface="Calibri" pitchFamily="34" charset="0"/>
                <a:ea typeface="Calibri" pitchFamily="34" charset="-122"/>
                <a:cs typeface="Calibri" pitchFamily="34" charset="-120"/>
              </a:rPr>
              <a:t>Docteur 2</a:t>
            </a:r>
            <a:endParaRPr lang="en-US" sz="1600" dirty="0"/>
          </a:p>
        </p:txBody>
      </p:sp>
      <p:sp>
        <p:nvSpPr>
          <p:cNvPr id="21" name="Lifeline Docteur 3"/>
          <p:cNvSpPr/>
          <p:nvPr/>
        </p:nvSpPr>
        <p:spPr>
          <a:xfrm>
            <a:off x="10335333" y="1024128"/>
            <a:ext cx="1417320" cy="411480"/>
          </a:xfrm>
          <a:prstGeom prst="roundRect">
            <a:avLst>
              <a:gd name="adj" fmla="val 22222"/>
            </a:avLst>
          </a:prstGeom>
          <a:solidFill>
            <a:srgbClr val="E1F5EE"/>
          </a:solidFill>
          <a:ln w="12700">
            <a:solidFill>
              <a:srgbClr val="0F6E56"/>
            </a:solidFill>
          </a:ln>
        </p:spPr>
        <p:txBody>
          <a:bodyPr wrap="square" lIns="0" tIns="0" rIns="0" bIns="0" rtlCol="0" anchor="ctr"/>
          <a:lstStyle/>
          <a:p>
            <a:pPr marL="0" indent="0" algn="ctr">
              <a:buNone/>
            </a:pPr>
            <a:r>
              <a:rPr lang="en-US" sz="1600" b="1" dirty="0">
                <a:solidFill>
                  <a:srgbClr val="085041"/>
                </a:solidFill>
                <a:latin typeface="Calibri" pitchFamily="34" charset="0"/>
                <a:ea typeface="Calibri" pitchFamily="34" charset="-122"/>
                <a:cs typeface="Calibri" pitchFamily="34" charset="-120"/>
              </a:rPr>
              <a:t>Docteur 3</a:t>
            </a:r>
            <a:endParaRPr lang="en-US" sz="1600" dirty="0"/>
          </a:p>
        </p:txBody>
      </p:sp>
      <p:sp>
        <p:nvSpPr>
          <p:cNvPr id="22" name="Msg 1"/>
          <p:cNvSpPr/>
          <p:nvPr/>
        </p:nvSpPr>
        <p:spPr>
          <a:xfrm>
            <a:off x="2794798" y="1764792"/>
            <a:ext cx="1594975" cy="0"/>
          </a:xfrm>
          <a:prstGeom prst="line">
            <a:avLst/>
          </a:prstGeom>
          <a:noFill/>
          <a:ln w="19050">
            <a:solidFill>
              <a:srgbClr val="7F7F7F"/>
            </a:solidFill>
            <a:prstDash val="solid"/>
            <a:tailEnd type="arrow"/>
          </a:ln>
        </p:spPr>
      </p:sp>
      <p:sp>
        <p:nvSpPr>
          <p:cNvPr id="23" name="Text 21"/>
          <p:cNvSpPr txBox="1"/>
          <p:nvPr/>
        </p:nvSpPr>
        <p:spPr>
          <a:xfrm>
            <a:off x="3118627" y="1568196"/>
            <a:ext cx="1002182"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s'enregistrer</a:t>
            </a:r>
            <a:endParaRPr lang="en-US" sz="1100" dirty="0"/>
          </a:p>
        </p:txBody>
      </p:sp>
      <p:sp>
        <p:nvSpPr>
          <p:cNvPr id="24" name="Msg 2"/>
          <p:cNvSpPr/>
          <p:nvPr/>
        </p:nvSpPr>
        <p:spPr>
          <a:xfrm flipH="1">
            <a:off x="4499501" y="1997964"/>
            <a:ext cx="3244814" cy="0"/>
          </a:xfrm>
          <a:prstGeom prst="line">
            <a:avLst/>
          </a:prstGeom>
          <a:noFill/>
          <a:ln w="19050">
            <a:solidFill>
              <a:srgbClr val="7F7F7F"/>
            </a:solidFill>
            <a:prstDash val="solid"/>
            <a:tailEnd type="arrow"/>
          </a:ln>
        </p:spPr>
      </p:sp>
      <p:sp>
        <p:nvSpPr>
          <p:cNvPr id="25" name="Text 23"/>
          <p:cNvSpPr txBox="1"/>
          <p:nvPr/>
        </p:nvSpPr>
        <p:spPr>
          <a:xfrm>
            <a:off x="5593385" y="1801368"/>
            <a:ext cx="1002182"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s'enregistrer</a:t>
            </a:r>
            <a:endParaRPr lang="en-US" sz="1100" dirty="0"/>
          </a:p>
        </p:txBody>
      </p:sp>
      <p:sp>
        <p:nvSpPr>
          <p:cNvPr id="26" name="Msg 3"/>
          <p:cNvSpPr/>
          <p:nvPr/>
        </p:nvSpPr>
        <p:spPr>
          <a:xfrm flipH="1">
            <a:off x="6149340" y="2231136"/>
            <a:ext cx="1594975" cy="0"/>
          </a:xfrm>
          <a:prstGeom prst="line">
            <a:avLst/>
          </a:prstGeom>
          <a:noFill/>
          <a:ln w="19050">
            <a:solidFill>
              <a:srgbClr val="7F7F7F"/>
            </a:solidFill>
            <a:prstDash val="solid"/>
            <a:tailEnd type="arrow"/>
          </a:ln>
        </p:spPr>
      </p:sp>
      <p:sp>
        <p:nvSpPr>
          <p:cNvPr id="27" name="Text 25"/>
          <p:cNvSpPr txBox="1"/>
          <p:nvPr/>
        </p:nvSpPr>
        <p:spPr>
          <a:xfrm>
            <a:off x="6154957" y="2034540"/>
            <a:ext cx="1528877"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publier (Cardiologie)</a:t>
            </a:r>
            <a:endParaRPr lang="en-US" sz="1100" dirty="0"/>
          </a:p>
        </p:txBody>
      </p:sp>
      <p:sp>
        <p:nvSpPr>
          <p:cNvPr id="28" name="Msg 4"/>
          <p:cNvSpPr/>
          <p:nvPr/>
        </p:nvSpPr>
        <p:spPr>
          <a:xfrm flipH="1">
            <a:off x="6149340" y="2464308"/>
            <a:ext cx="3244814" cy="0"/>
          </a:xfrm>
          <a:prstGeom prst="line">
            <a:avLst/>
          </a:prstGeom>
          <a:noFill/>
          <a:ln w="19050">
            <a:solidFill>
              <a:srgbClr val="7F7F7F"/>
            </a:solidFill>
            <a:prstDash val="solid"/>
            <a:tailEnd type="arrow"/>
          </a:ln>
        </p:spPr>
      </p:sp>
      <p:sp>
        <p:nvSpPr>
          <p:cNvPr id="29" name="Text 27"/>
          <p:cNvSpPr txBox="1"/>
          <p:nvPr/>
        </p:nvSpPr>
        <p:spPr>
          <a:xfrm>
            <a:off x="6914040" y="2267712"/>
            <a:ext cx="1660550"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publier (Traumatologie)</a:t>
            </a:r>
            <a:endParaRPr lang="en-US" sz="1100" dirty="0"/>
          </a:p>
        </p:txBody>
      </p:sp>
      <p:sp>
        <p:nvSpPr>
          <p:cNvPr id="30" name="Msg 5"/>
          <p:cNvSpPr/>
          <p:nvPr/>
        </p:nvSpPr>
        <p:spPr>
          <a:xfrm flipH="1">
            <a:off x="6149340" y="2697480"/>
            <a:ext cx="4894653" cy="0"/>
          </a:xfrm>
          <a:prstGeom prst="line">
            <a:avLst/>
          </a:prstGeom>
          <a:noFill/>
          <a:ln w="19050">
            <a:solidFill>
              <a:srgbClr val="7F7F7F"/>
            </a:solidFill>
            <a:prstDash val="solid"/>
            <a:tailEnd type="arrow"/>
          </a:ln>
        </p:spPr>
      </p:sp>
      <p:sp>
        <p:nvSpPr>
          <p:cNvPr id="31" name="Text 29"/>
          <p:cNvSpPr txBox="1"/>
          <p:nvPr/>
        </p:nvSpPr>
        <p:spPr>
          <a:xfrm>
            <a:off x="7804796" y="2500884"/>
            <a:ext cx="1528877"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publier (Generaliste)</a:t>
            </a:r>
            <a:endParaRPr lang="en-US" sz="1100" dirty="0"/>
          </a:p>
        </p:txBody>
      </p:sp>
      <p:sp>
        <p:nvSpPr>
          <p:cNvPr id="32" name="Msg 6"/>
          <p:cNvSpPr/>
          <p:nvPr/>
        </p:nvSpPr>
        <p:spPr>
          <a:xfrm>
            <a:off x="1144959" y="2930652"/>
            <a:ext cx="1594975" cy="0"/>
          </a:xfrm>
          <a:prstGeom prst="line">
            <a:avLst/>
          </a:prstGeom>
          <a:noFill/>
          <a:ln w="19050">
            <a:solidFill>
              <a:srgbClr val="7F7F7F"/>
            </a:solidFill>
            <a:prstDash val="solid"/>
            <a:tailEnd type="arrow"/>
          </a:ln>
        </p:spPr>
      </p:sp>
      <p:sp>
        <p:nvSpPr>
          <p:cNvPr id="33" name="Text 31"/>
          <p:cNvSpPr txBox="1"/>
          <p:nvPr/>
        </p:nvSpPr>
        <p:spPr>
          <a:xfrm>
            <a:off x="1666298" y="2734056"/>
            <a:ext cx="607162"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REQUEST</a:t>
            </a:r>
            <a:endParaRPr lang="en-US" sz="1100" dirty="0"/>
          </a:p>
        </p:txBody>
      </p:sp>
      <p:sp>
        <p:nvSpPr>
          <p:cNvPr id="34" name="Shape 32"/>
          <p:cNvSpPr/>
          <p:nvPr/>
        </p:nvSpPr>
        <p:spPr>
          <a:xfrm>
            <a:off x="2794798" y="3054096"/>
            <a:ext cx="411480" cy="0"/>
          </a:xfrm>
          <a:prstGeom prst="line">
            <a:avLst/>
          </a:prstGeom>
          <a:noFill/>
          <a:ln w="19050">
            <a:solidFill>
              <a:srgbClr val="7F7F7F"/>
            </a:solidFill>
            <a:prstDash val="solid"/>
          </a:ln>
        </p:spPr>
      </p:sp>
      <p:sp>
        <p:nvSpPr>
          <p:cNvPr id="35" name="Shape 33"/>
          <p:cNvSpPr/>
          <p:nvPr/>
        </p:nvSpPr>
        <p:spPr>
          <a:xfrm>
            <a:off x="3206278" y="3054096"/>
            <a:ext cx="0" cy="201168"/>
          </a:xfrm>
          <a:prstGeom prst="line">
            <a:avLst/>
          </a:prstGeom>
          <a:noFill/>
          <a:ln w="19050">
            <a:solidFill>
              <a:srgbClr val="7F7F7F"/>
            </a:solidFill>
            <a:prstDash val="solid"/>
          </a:ln>
        </p:spPr>
      </p:sp>
      <p:sp>
        <p:nvSpPr>
          <p:cNvPr id="36" name="Shape 34"/>
          <p:cNvSpPr/>
          <p:nvPr/>
        </p:nvSpPr>
        <p:spPr>
          <a:xfrm flipH="1">
            <a:off x="2831374" y="3255264"/>
            <a:ext cx="374904" cy="0"/>
          </a:xfrm>
          <a:prstGeom prst="line">
            <a:avLst/>
          </a:prstGeom>
          <a:noFill/>
          <a:ln w="19050">
            <a:solidFill>
              <a:srgbClr val="7F7F7F"/>
            </a:solidFill>
            <a:prstDash val="solid"/>
            <a:tailEnd type="arrow"/>
          </a:ln>
        </p:spPr>
      </p:sp>
      <p:sp>
        <p:nvSpPr>
          <p:cNvPr id="37" name="Text 35"/>
          <p:cNvSpPr txBox="1"/>
          <p:nvPr/>
        </p:nvSpPr>
        <p:spPr>
          <a:xfrm>
            <a:off x="3297718" y="3035808"/>
            <a:ext cx="3108960" cy="237744"/>
          </a:xfrm>
          <a:prstGeom prst="rect">
            <a:avLst/>
          </a:prstGeom>
          <a:noFill/>
          <a:ln/>
        </p:spPr>
        <p:txBody>
          <a:bodyPr wrap="square" lIns="0" tIns="0" rIns="0" bIns="0" rtlCol="0" anchor="ctr"/>
          <a:lstStyle/>
          <a:p>
            <a:pPr marL="0" indent="0" algn="l">
              <a:buNone/>
            </a:pPr>
            <a:r>
              <a:rPr lang="en-US" sz="1100" dirty="0">
                <a:solidFill>
                  <a:srgbClr val="404040"/>
                </a:solidFill>
                <a:latin typeface="Calibri" pitchFamily="34" charset="0"/>
                <a:ea typeface="Calibri" pitchFamily="34" charset="-122"/>
                <a:cs typeface="Calibri" pitchFamily="34" charset="-120"/>
              </a:rPr>
              <a:t>triage : urgence + specialite</a:t>
            </a:r>
            <a:endParaRPr lang="en-US" sz="1100" dirty="0"/>
          </a:p>
        </p:txBody>
      </p:sp>
      <p:sp>
        <p:nvSpPr>
          <p:cNvPr id="38" name="Msg 8"/>
          <p:cNvSpPr/>
          <p:nvPr/>
        </p:nvSpPr>
        <p:spPr>
          <a:xfrm>
            <a:off x="2794798" y="3502152"/>
            <a:ext cx="3244814" cy="0"/>
          </a:xfrm>
          <a:prstGeom prst="line">
            <a:avLst/>
          </a:prstGeom>
          <a:noFill/>
          <a:ln w="19050">
            <a:solidFill>
              <a:srgbClr val="7F7F7F"/>
            </a:solidFill>
            <a:prstDash val="solid"/>
            <a:tailEnd type="arrow"/>
          </a:ln>
        </p:spPr>
      </p:sp>
      <p:sp>
        <p:nvSpPr>
          <p:cNvPr id="39" name="Text 37"/>
          <p:cNvSpPr txBox="1"/>
          <p:nvPr/>
        </p:nvSpPr>
        <p:spPr>
          <a:xfrm>
            <a:off x="3614362" y="3305556"/>
            <a:ext cx="1660550"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search ("Consultation")</a:t>
            </a:r>
            <a:endParaRPr lang="en-US" sz="1100" dirty="0"/>
          </a:p>
        </p:txBody>
      </p:sp>
      <p:sp>
        <p:nvSpPr>
          <p:cNvPr id="40" name="Msg 9"/>
          <p:cNvSpPr/>
          <p:nvPr/>
        </p:nvSpPr>
        <p:spPr>
          <a:xfrm flipH="1">
            <a:off x="2849662" y="3735324"/>
            <a:ext cx="3244814" cy="0"/>
          </a:xfrm>
          <a:prstGeom prst="line">
            <a:avLst/>
          </a:prstGeom>
          <a:noFill/>
          <a:ln w="19050">
            <a:solidFill>
              <a:srgbClr val="7F7F7F"/>
            </a:solidFill>
            <a:prstDash val="dash"/>
            <a:tailEnd type="arrow"/>
          </a:ln>
        </p:spPr>
      </p:sp>
      <p:sp>
        <p:nvSpPr>
          <p:cNvPr id="41" name="Text 39"/>
          <p:cNvSpPr txBox="1"/>
          <p:nvPr/>
        </p:nvSpPr>
        <p:spPr>
          <a:xfrm>
            <a:off x="3778954" y="3538728"/>
            <a:ext cx="1331366"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liste des docteurs</a:t>
            </a:r>
            <a:endParaRPr lang="en-US" sz="1100" dirty="0"/>
          </a:p>
        </p:txBody>
      </p:sp>
      <p:sp>
        <p:nvSpPr>
          <p:cNvPr id="42" name="Msg 10"/>
          <p:cNvSpPr/>
          <p:nvPr/>
        </p:nvSpPr>
        <p:spPr>
          <a:xfrm>
            <a:off x="2794798" y="3968496"/>
            <a:ext cx="4894653" cy="0"/>
          </a:xfrm>
          <a:prstGeom prst="line">
            <a:avLst/>
          </a:prstGeom>
          <a:noFill/>
          <a:ln w="19050">
            <a:solidFill>
              <a:srgbClr val="7F7F7F"/>
            </a:solidFill>
            <a:prstDash val="solid"/>
            <a:tailEnd type="arrow"/>
          </a:ln>
        </p:spPr>
      </p:sp>
      <p:sp>
        <p:nvSpPr>
          <p:cNvPr id="43" name="Text 41"/>
          <p:cNvSpPr txBox="1"/>
          <p:nvPr/>
        </p:nvSpPr>
        <p:spPr>
          <a:xfrm>
            <a:off x="5097649" y="3771900"/>
            <a:ext cx="343814"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CFP</a:t>
            </a:r>
            <a:endParaRPr lang="en-US" sz="1100" dirty="0"/>
          </a:p>
        </p:txBody>
      </p:sp>
      <p:sp>
        <p:nvSpPr>
          <p:cNvPr id="44" name="Msg 11"/>
          <p:cNvSpPr/>
          <p:nvPr/>
        </p:nvSpPr>
        <p:spPr>
          <a:xfrm>
            <a:off x="2794798" y="4201668"/>
            <a:ext cx="6544491" cy="0"/>
          </a:xfrm>
          <a:prstGeom prst="line">
            <a:avLst/>
          </a:prstGeom>
          <a:noFill/>
          <a:ln w="19050">
            <a:solidFill>
              <a:srgbClr val="7F7F7F"/>
            </a:solidFill>
            <a:prstDash val="solid"/>
            <a:tailEnd type="arrow"/>
          </a:ln>
        </p:spPr>
      </p:sp>
      <p:sp>
        <p:nvSpPr>
          <p:cNvPr id="45" name="Text 43"/>
          <p:cNvSpPr txBox="1"/>
          <p:nvPr/>
        </p:nvSpPr>
        <p:spPr>
          <a:xfrm>
            <a:off x="5922569" y="4005072"/>
            <a:ext cx="343814"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CFP</a:t>
            </a:r>
            <a:endParaRPr lang="en-US" sz="1100" dirty="0"/>
          </a:p>
        </p:txBody>
      </p:sp>
      <p:sp>
        <p:nvSpPr>
          <p:cNvPr id="46" name="Msg 12"/>
          <p:cNvSpPr/>
          <p:nvPr/>
        </p:nvSpPr>
        <p:spPr>
          <a:xfrm>
            <a:off x="2794798" y="4434840"/>
            <a:ext cx="8194330" cy="0"/>
          </a:xfrm>
          <a:prstGeom prst="line">
            <a:avLst/>
          </a:prstGeom>
          <a:noFill/>
          <a:ln w="19050">
            <a:solidFill>
              <a:srgbClr val="7F7F7F"/>
            </a:solidFill>
            <a:prstDash val="solid"/>
            <a:tailEnd type="arrow"/>
          </a:ln>
        </p:spPr>
      </p:sp>
      <p:sp>
        <p:nvSpPr>
          <p:cNvPr id="47" name="Text 45"/>
          <p:cNvSpPr txBox="1"/>
          <p:nvPr/>
        </p:nvSpPr>
        <p:spPr>
          <a:xfrm>
            <a:off x="6747488" y="4238244"/>
            <a:ext cx="343814"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CFP</a:t>
            </a:r>
            <a:endParaRPr lang="en-US" sz="1100" dirty="0"/>
          </a:p>
        </p:txBody>
      </p:sp>
      <p:sp>
        <p:nvSpPr>
          <p:cNvPr id="48" name="Msg 13"/>
          <p:cNvSpPr/>
          <p:nvPr/>
        </p:nvSpPr>
        <p:spPr>
          <a:xfrm flipH="1">
            <a:off x="2849662" y="4668012"/>
            <a:ext cx="4894653" cy="0"/>
          </a:xfrm>
          <a:prstGeom prst="line">
            <a:avLst/>
          </a:prstGeom>
          <a:noFill/>
          <a:ln w="19050">
            <a:solidFill>
              <a:srgbClr val="7F7F7F"/>
            </a:solidFill>
            <a:prstDash val="dash"/>
            <a:tailEnd type="arrow"/>
          </a:ln>
        </p:spPr>
      </p:sp>
      <p:sp>
        <p:nvSpPr>
          <p:cNvPr id="49" name="Text 47"/>
          <p:cNvSpPr txBox="1"/>
          <p:nvPr/>
        </p:nvSpPr>
        <p:spPr>
          <a:xfrm>
            <a:off x="4044261" y="4471416"/>
            <a:ext cx="2450592"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PROPOSE (delai ; file ; specialite)</a:t>
            </a:r>
            <a:endParaRPr lang="en-US" sz="1100" dirty="0"/>
          </a:p>
        </p:txBody>
      </p:sp>
      <p:sp>
        <p:nvSpPr>
          <p:cNvPr id="50" name="Msg 14"/>
          <p:cNvSpPr/>
          <p:nvPr/>
        </p:nvSpPr>
        <p:spPr>
          <a:xfrm flipH="1">
            <a:off x="2849662" y="4901184"/>
            <a:ext cx="6544491" cy="0"/>
          </a:xfrm>
          <a:prstGeom prst="line">
            <a:avLst/>
          </a:prstGeom>
          <a:noFill/>
          <a:ln w="19050">
            <a:solidFill>
              <a:srgbClr val="7F7F7F"/>
            </a:solidFill>
            <a:prstDash val="dash"/>
            <a:tailEnd type="arrow"/>
          </a:ln>
        </p:spPr>
      </p:sp>
      <p:sp>
        <p:nvSpPr>
          <p:cNvPr id="51" name="Text 49"/>
          <p:cNvSpPr txBox="1"/>
          <p:nvPr/>
        </p:nvSpPr>
        <p:spPr>
          <a:xfrm>
            <a:off x="5790895" y="4704588"/>
            <a:ext cx="607162"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PROPOSE</a:t>
            </a:r>
            <a:endParaRPr lang="en-US" sz="1100" dirty="0"/>
          </a:p>
        </p:txBody>
      </p:sp>
      <p:sp>
        <p:nvSpPr>
          <p:cNvPr id="52" name="Msg 15"/>
          <p:cNvSpPr/>
          <p:nvPr/>
        </p:nvSpPr>
        <p:spPr>
          <a:xfrm flipH="1">
            <a:off x="2849662" y="5134356"/>
            <a:ext cx="8194330" cy="0"/>
          </a:xfrm>
          <a:prstGeom prst="line">
            <a:avLst/>
          </a:prstGeom>
          <a:noFill/>
          <a:ln w="19050">
            <a:solidFill>
              <a:srgbClr val="7F7F7F"/>
            </a:solidFill>
            <a:prstDash val="dash"/>
            <a:tailEnd type="arrow"/>
          </a:ln>
        </p:spPr>
      </p:sp>
      <p:sp>
        <p:nvSpPr>
          <p:cNvPr id="53" name="Text 51"/>
          <p:cNvSpPr txBox="1"/>
          <p:nvPr/>
        </p:nvSpPr>
        <p:spPr>
          <a:xfrm>
            <a:off x="6352467" y="4937760"/>
            <a:ext cx="1133856"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REFUSE (sature)</a:t>
            </a:r>
            <a:endParaRPr lang="en-US" sz="1100" dirty="0"/>
          </a:p>
        </p:txBody>
      </p:sp>
      <p:sp>
        <p:nvSpPr>
          <p:cNvPr id="54" name="Shape 52"/>
          <p:cNvSpPr/>
          <p:nvPr/>
        </p:nvSpPr>
        <p:spPr>
          <a:xfrm>
            <a:off x="2794798" y="5257800"/>
            <a:ext cx="411480" cy="0"/>
          </a:xfrm>
          <a:prstGeom prst="line">
            <a:avLst/>
          </a:prstGeom>
          <a:noFill/>
          <a:ln w="19050">
            <a:solidFill>
              <a:srgbClr val="7F7F7F"/>
            </a:solidFill>
            <a:prstDash val="solid"/>
          </a:ln>
        </p:spPr>
      </p:sp>
      <p:sp>
        <p:nvSpPr>
          <p:cNvPr id="55" name="Shape 53"/>
          <p:cNvSpPr/>
          <p:nvPr/>
        </p:nvSpPr>
        <p:spPr>
          <a:xfrm>
            <a:off x="3206278" y="5257800"/>
            <a:ext cx="0" cy="201168"/>
          </a:xfrm>
          <a:prstGeom prst="line">
            <a:avLst/>
          </a:prstGeom>
          <a:noFill/>
          <a:ln w="19050">
            <a:solidFill>
              <a:srgbClr val="7F7F7F"/>
            </a:solidFill>
            <a:prstDash val="solid"/>
          </a:ln>
        </p:spPr>
      </p:sp>
      <p:sp>
        <p:nvSpPr>
          <p:cNvPr id="56" name="Shape 54"/>
          <p:cNvSpPr/>
          <p:nvPr/>
        </p:nvSpPr>
        <p:spPr>
          <a:xfrm flipH="1">
            <a:off x="2831374" y="5458968"/>
            <a:ext cx="374904" cy="0"/>
          </a:xfrm>
          <a:prstGeom prst="line">
            <a:avLst/>
          </a:prstGeom>
          <a:noFill/>
          <a:ln w="19050">
            <a:solidFill>
              <a:srgbClr val="7F7F7F"/>
            </a:solidFill>
            <a:prstDash val="solid"/>
            <a:tailEnd type="arrow"/>
          </a:ln>
        </p:spPr>
      </p:sp>
      <p:sp>
        <p:nvSpPr>
          <p:cNvPr id="57" name="Text 55"/>
          <p:cNvSpPr txBox="1"/>
          <p:nvPr/>
        </p:nvSpPr>
        <p:spPr>
          <a:xfrm>
            <a:off x="3297718" y="5239512"/>
            <a:ext cx="3108960" cy="237744"/>
          </a:xfrm>
          <a:prstGeom prst="rect">
            <a:avLst/>
          </a:prstGeom>
          <a:noFill/>
          <a:ln/>
        </p:spPr>
        <p:txBody>
          <a:bodyPr wrap="square" lIns="0" tIns="0" rIns="0" bIns="0" rtlCol="0" anchor="ctr"/>
          <a:lstStyle/>
          <a:p>
            <a:pPr marL="0" indent="0" algn="l">
              <a:buNone/>
            </a:pPr>
            <a:r>
              <a:rPr lang="en-US" sz="1100" dirty="0">
                <a:solidFill>
                  <a:srgbClr val="404040"/>
                </a:solidFill>
                <a:latin typeface="Calibri" pitchFamily="34" charset="0"/>
                <a:ea typeface="Calibri" pitchFamily="34" charset="-122"/>
                <a:cs typeface="Calibri" pitchFamily="34" charset="-120"/>
              </a:rPr>
              <a:t>BEST PROP : calcul du score</a:t>
            </a:r>
            <a:endParaRPr lang="en-US" sz="1100" dirty="0"/>
          </a:p>
        </p:txBody>
      </p:sp>
      <p:sp>
        <p:nvSpPr>
          <p:cNvPr id="58" name="Msg 17"/>
          <p:cNvSpPr/>
          <p:nvPr/>
        </p:nvSpPr>
        <p:spPr>
          <a:xfrm>
            <a:off x="2794798" y="5705856"/>
            <a:ext cx="4894653" cy="0"/>
          </a:xfrm>
          <a:prstGeom prst="line">
            <a:avLst/>
          </a:prstGeom>
          <a:noFill/>
          <a:ln w="19050">
            <a:solidFill>
              <a:srgbClr val="7F7F7F"/>
            </a:solidFill>
            <a:prstDash val="solid"/>
            <a:tailEnd type="arrow"/>
          </a:ln>
        </p:spPr>
      </p:sp>
      <p:sp>
        <p:nvSpPr>
          <p:cNvPr id="59" name="Text 57"/>
          <p:cNvSpPr txBox="1"/>
          <p:nvPr/>
        </p:nvSpPr>
        <p:spPr>
          <a:xfrm>
            <a:off x="4702629" y="5509260"/>
            <a:ext cx="1133856"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ACCEPT_PROPOSAL</a:t>
            </a:r>
            <a:endParaRPr lang="en-US" sz="1100" dirty="0"/>
          </a:p>
        </p:txBody>
      </p:sp>
      <p:sp>
        <p:nvSpPr>
          <p:cNvPr id="60" name="Msg 18"/>
          <p:cNvSpPr/>
          <p:nvPr/>
        </p:nvSpPr>
        <p:spPr>
          <a:xfrm>
            <a:off x="2794798" y="5939028"/>
            <a:ext cx="6544491" cy="0"/>
          </a:xfrm>
          <a:prstGeom prst="line">
            <a:avLst/>
          </a:prstGeom>
          <a:noFill/>
          <a:ln w="19050">
            <a:solidFill>
              <a:srgbClr val="7F7F7F"/>
            </a:solidFill>
            <a:prstDash val="solid"/>
            <a:tailEnd type="arrow"/>
          </a:ln>
        </p:spPr>
      </p:sp>
      <p:sp>
        <p:nvSpPr>
          <p:cNvPr id="61" name="Text 59"/>
          <p:cNvSpPr txBox="1"/>
          <p:nvPr/>
        </p:nvSpPr>
        <p:spPr>
          <a:xfrm>
            <a:off x="5527548" y="5742432"/>
            <a:ext cx="1133856"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REJECT_PROPOSAL</a:t>
            </a:r>
            <a:endParaRPr lang="en-US" sz="1100" dirty="0"/>
          </a:p>
        </p:txBody>
      </p:sp>
      <p:sp>
        <p:nvSpPr>
          <p:cNvPr id="62" name="Msg 19"/>
          <p:cNvSpPr/>
          <p:nvPr/>
        </p:nvSpPr>
        <p:spPr>
          <a:xfrm flipH="1">
            <a:off x="2849662" y="6172200"/>
            <a:ext cx="4894653" cy="0"/>
          </a:xfrm>
          <a:prstGeom prst="line">
            <a:avLst/>
          </a:prstGeom>
          <a:noFill/>
          <a:ln w="19050">
            <a:solidFill>
              <a:srgbClr val="7F7F7F"/>
            </a:solidFill>
            <a:prstDash val="dash"/>
            <a:tailEnd type="arrow"/>
          </a:ln>
        </p:spPr>
      </p:sp>
      <p:sp>
        <p:nvSpPr>
          <p:cNvPr id="63" name="Text 61"/>
          <p:cNvSpPr txBox="1"/>
          <p:nvPr/>
        </p:nvSpPr>
        <p:spPr>
          <a:xfrm>
            <a:off x="4241771" y="5975604"/>
            <a:ext cx="2055571"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INFORM (rendez-vous confirme)</a:t>
            </a:r>
            <a:endParaRPr lang="en-US" sz="1100" dirty="0"/>
          </a:p>
        </p:txBody>
      </p:sp>
      <p:sp>
        <p:nvSpPr>
          <p:cNvPr id="64" name="Msg 20"/>
          <p:cNvSpPr/>
          <p:nvPr/>
        </p:nvSpPr>
        <p:spPr>
          <a:xfrm flipH="1">
            <a:off x="1199823" y="6405372"/>
            <a:ext cx="1594975" cy="0"/>
          </a:xfrm>
          <a:prstGeom prst="line">
            <a:avLst/>
          </a:prstGeom>
          <a:noFill/>
          <a:ln w="19050">
            <a:solidFill>
              <a:srgbClr val="7F7F7F"/>
            </a:solidFill>
            <a:prstDash val="dash"/>
            <a:tailEnd type="arrow"/>
          </a:ln>
        </p:spPr>
      </p:sp>
      <p:sp>
        <p:nvSpPr>
          <p:cNvPr id="65" name="Text 63"/>
          <p:cNvSpPr txBox="1"/>
          <p:nvPr/>
        </p:nvSpPr>
        <p:spPr>
          <a:xfrm>
            <a:off x="1699216" y="6208776"/>
            <a:ext cx="541325" cy="173736"/>
          </a:xfrm>
          <a:prstGeom prst="rect">
            <a:avLst/>
          </a:prstGeom>
          <a:solidFill>
            <a:srgbClr val="FFFFFF"/>
          </a:solidFill>
          <a:ln/>
        </p:spPr>
        <p:txBody>
          <a:bodyPr wrap="square" lIns="0" tIns="0" rIns="0" bIns="0"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INFORM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600" b="1" dirty="0">
                <a:solidFill>
                  <a:schemeClr val="tx2"/>
                </a:solidFill>
              </a:rPr>
              <a:t>La négociation en 4 temps</a:t>
            </a:r>
            <a:endParaRPr lang="en-US" sz="3600" dirty="0"/>
          </a:p>
        </p:txBody>
      </p:sp>
      <p:sp>
        <p:nvSpPr>
          <p:cNvPr id="3" name="Ligne chronologie"/>
          <p:cNvSpPr/>
          <p:nvPr/>
        </p:nvSpPr>
        <p:spPr>
          <a:xfrm>
            <a:off x="1851660" y="1828800"/>
            <a:ext cx="8485632" cy="0"/>
          </a:xfrm>
          <a:prstGeom prst="line">
            <a:avLst/>
          </a:prstGeom>
          <a:noFill/>
          <a:ln w="25400">
            <a:solidFill>
              <a:schemeClr val="accent1"/>
            </a:solidFill>
            <a:prstDash val="solid"/>
          </a:ln>
        </p:spPr>
      </p:sp>
      <p:sp>
        <p:nvSpPr>
          <p:cNvPr id="4" name="Numéro 1"/>
          <p:cNvSpPr txBox="1"/>
          <p:nvPr/>
        </p:nvSpPr>
        <p:spPr>
          <a:xfrm>
            <a:off x="1531620" y="150876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5" name="Carte étape 1"/>
          <p:cNvSpPr/>
          <p:nvPr/>
        </p:nvSpPr>
        <p:spPr>
          <a:xfrm>
            <a:off x="548640" y="2377440"/>
            <a:ext cx="2606040" cy="2697480"/>
          </a:xfrm>
          <a:prstGeom prst="roundRect">
            <a:avLst>
              <a:gd name="adj" fmla="val 5263"/>
            </a:avLst>
          </a:prstGeom>
          <a:solidFill>
            <a:schemeClr val="bg2"/>
          </a:solidFill>
          <a:ln/>
          <a:effectLst>
            <a:outerShdw blurRad="101600" dist="25400" dir="5400000" algn="bl" rotWithShape="0">
              <a:srgbClr val="000000">
                <a:alpha val="14000"/>
              </a:srgbClr>
            </a:outerShdw>
          </a:effectLst>
        </p:spPr>
      </p:sp>
      <p:sp>
        <p:nvSpPr>
          <p:cNvPr id="6" name="Message CFP"/>
          <p:cNvSpPr txBox="1"/>
          <p:nvPr/>
        </p:nvSpPr>
        <p:spPr>
          <a:xfrm>
            <a:off x="731520" y="2560320"/>
            <a:ext cx="2240280" cy="411480"/>
          </a:xfrm>
          <a:prstGeom prst="roundRect">
            <a:avLst>
              <a:gd name="adj" fmla="val 44444"/>
            </a:avLst>
          </a:prstGeom>
          <a:solidFill>
            <a:schemeClr val="tx2"/>
          </a:solidFill>
          <a:ln/>
        </p:spPr>
        <p:txBody>
          <a:bodyPr wrap="square" lIns="0" tIns="0" rIns="0" bIns="0" rtlCol="0" anchor="ctr"/>
          <a:lstStyle/>
          <a:p>
            <a:pPr marL="0" indent="0" algn="ctr">
              <a:buNone/>
            </a:pPr>
            <a:r>
              <a:rPr lang="en-US" sz="1400" b="1" dirty="0">
                <a:solidFill>
                  <a:schemeClr val="bg1"/>
                </a:solidFill>
              </a:rPr>
              <a:t>CFP</a:t>
            </a:r>
            <a:endParaRPr lang="en-US" sz="1400" dirty="0"/>
          </a:p>
        </p:txBody>
      </p:sp>
      <p:sp>
        <p:nvSpPr>
          <p:cNvPr id="7" name="Text 5"/>
          <p:cNvSpPr txBox="1"/>
          <p:nvPr/>
        </p:nvSpPr>
        <p:spPr>
          <a:xfrm>
            <a:off x="731520" y="3154680"/>
            <a:ext cx="2240280" cy="731520"/>
          </a:xfrm>
          <a:prstGeom prst="rect">
            <a:avLst/>
          </a:prstGeom>
          <a:noFill/>
          <a:ln/>
        </p:spPr>
        <p:txBody>
          <a:bodyPr wrap="square" lIns="0" tIns="0" rIns="0" bIns="0" rtlCol="0" anchor="t"/>
          <a:lstStyle/>
          <a:p>
            <a:pPr marL="0" indent="0">
              <a:buNone/>
            </a:pPr>
            <a:r>
              <a:rPr lang="en-US" sz="2000" b="1" dirty="0">
                <a:solidFill>
                  <a:schemeClr val="tx2"/>
                </a:solidFill>
              </a:rPr>
              <a:t>L'infirmier lance l'appel</a:t>
            </a:r>
            <a:endParaRPr lang="en-US" sz="2000" dirty="0"/>
          </a:p>
        </p:txBody>
      </p:sp>
      <p:sp>
        <p:nvSpPr>
          <p:cNvPr id="8" name="Text 6"/>
          <p:cNvSpPr txBox="1"/>
          <p:nvPr/>
        </p:nvSpPr>
        <p:spPr>
          <a:xfrm>
            <a:off x="731520" y="3931920"/>
            <a:ext cx="2240280" cy="1051560"/>
          </a:xfrm>
          <a:prstGeom prst="rect">
            <a:avLst/>
          </a:prstGeom>
          <a:noFill/>
          <a:ln/>
        </p:spPr>
        <p:txBody>
          <a:bodyPr wrap="square" lIns="0" tIns="0" rIns="0" bIns="0" rtlCol="0" anchor="t"/>
          <a:lstStyle/>
          <a:p>
            <a:pPr marL="0" indent="0">
              <a:buNone/>
            </a:pPr>
            <a:r>
              <a:rPr lang="en-US" sz="1600" dirty="0">
                <a:solidFill>
                  <a:srgbClr val="000000"/>
                </a:solidFill>
              </a:rPr>
              <a:t>Il envoie la demande à tous les docteurs trouvés dans le DF.</a:t>
            </a:r>
            <a:endParaRPr lang="en-US" sz="1600" dirty="0"/>
          </a:p>
        </p:txBody>
      </p:sp>
      <p:sp>
        <p:nvSpPr>
          <p:cNvPr id="9" name="Numéro 2"/>
          <p:cNvSpPr txBox="1"/>
          <p:nvPr/>
        </p:nvSpPr>
        <p:spPr>
          <a:xfrm>
            <a:off x="4360164" y="150876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0" name="Carte étape 2"/>
          <p:cNvSpPr/>
          <p:nvPr/>
        </p:nvSpPr>
        <p:spPr>
          <a:xfrm>
            <a:off x="3377184" y="2377440"/>
            <a:ext cx="2606040" cy="2697480"/>
          </a:xfrm>
          <a:prstGeom prst="roundRect">
            <a:avLst>
              <a:gd name="adj" fmla="val 5263"/>
            </a:avLst>
          </a:prstGeom>
          <a:solidFill>
            <a:schemeClr val="bg2"/>
          </a:solidFill>
          <a:ln/>
          <a:effectLst>
            <a:outerShdw blurRad="101600" dist="25400" dir="5400000" algn="bl" rotWithShape="0">
              <a:srgbClr val="000000">
                <a:alpha val="14000"/>
              </a:srgbClr>
            </a:outerShdw>
          </a:effectLst>
        </p:spPr>
      </p:sp>
      <p:sp>
        <p:nvSpPr>
          <p:cNvPr id="11" name="Message PROPOSE / REFUSE"/>
          <p:cNvSpPr txBox="1"/>
          <p:nvPr/>
        </p:nvSpPr>
        <p:spPr>
          <a:xfrm>
            <a:off x="3560064" y="2560320"/>
            <a:ext cx="2240280" cy="411480"/>
          </a:xfrm>
          <a:prstGeom prst="roundRect">
            <a:avLst>
              <a:gd name="adj" fmla="val 44444"/>
            </a:avLst>
          </a:prstGeom>
          <a:solidFill>
            <a:schemeClr val="tx2"/>
          </a:solidFill>
          <a:ln/>
        </p:spPr>
        <p:txBody>
          <a:bodyPr wrap="square" lIns="0" tIns="0" rIns="0" bIns="0" rtlCol="0" anchor="ctr"/>
          <a:lstStyle/>
          <a:p>
            <a:pPr marL="0" indent="0" algn="ctr">
              <a:buNone/>
            </a:pPr>
            <a:r>
              <a:rPr lang="en-US" sz="1400" b="1" dirty="0">
                <a:solidFill>
                  <a:schemeClr val="bg1"/>
                </a:solidFill>
              </a:rPr>
              <a:t>PROPOSE / REFUSE</a:t>
            </a:r>
            <a:endParaRPr lang="en-US" sz="1400" dirty="0"/>
          </a:p>
        </p:txBody>
      </p:sp>
      <p:sp>
        <p:nvSpPr>
          <p:cNvPr id="12" name="Text 10"/>
          <p:cNvSpPr txBox="1"/>
          <p:nvPr/>
        </p:nvSpPr>
        <p:spPr>
          <a:xfrm>
            <a:off x="3560064" y="3154680"/>
            <a:ext cx="2240280" cy="731520"/>
          </a:xfrm>
          <a:prstGeom prst="rect">
            <a:avLst/>
          </a:prstGeom>
          <a:noFill/>
          <a:ln/>
        </p:spPr>
        <p:txBody>
          <a:bodyPr wrap="square" lIns="0" tIns="0" rIns="0" bIns="0" rtlCol="0" anchor="t"/>
          <a:lstStyle/>
          <a:p>
            <a:pPr marL="0" indent="0">
              <a:buNone/>
            </a:pPr>
            <a:r>
              <a:rPr lang="en-US" sz="2000" b="1" dirty="0">
                <a:solidFill>
                  <a:schemeClr val="tx2"/>
                </a:solidFill>
              </a:rPr>
              <a:t>Les docteurs répondent</a:t>
            </a:r>
            <a:endParaRPr lang="en-US" sz="2000" dirty="0"/>
          </a:p>
        </p:txBody>
      </p:sp>
      <p:sp>
        <p:nvSpPr>
          <p:cNvPr id="13" name="Text 11"/>
          <p:cNvSpPr txBox="1"/>
          <p:nvPr/>
        </p:nvSpPr>
        <p:spPr>
          <a:xfrm>
            <a:off x="3560064" y="3931920"/>
            <a:ext cx="2240280" cy="1051560"/>
          </a:xfrm>
          <a:prstGeom prst="rect">
            <a:avLst/>
          </a:prstGeom>
          <a:noFill/>
          <a:ln/>
        </p:spPr>
        <p:txBody>
          <a:bodyPr wrap="square" lIns="0" tIns="0" rIns="0" bIns="0" rtlCol="0" anchor="t"/>
          <a:lstStyle/>
          <a:p>
            <a:pPr marL="0" indent="0">
              <a:buNone/>
            </a:pPr>
            <a:r>
              <a:rPr lang="en-US" sz="1600" dirty="0">
                <a:solidFill>
                  <a:srgbClr val="000000"/>
                </a:solidFill>
              </a:rPr>
              <a:t>Chacun propose un délai, ou refuse s'il est saturé.</a:t>
            </a:r>
            <a:endParaRPr lang="en-US" sz="1600" dirty="0"/>
          </a:p>
        </p:txBody>
      </p:sp>
      <p:sp>
        <p:nvSpPr>
          <p:cNvPr id="14" name="Numéro 3"/>
          <p:cNvSpPr txBox="1"/>
          <p:nvPr/>
        </p:nvSpPr>
        <p:spPr>
          <a:xfrm>
            <a:off x="7188708" y="150876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5" name="Carte étape 3"/>
          <p:cNvSpPr/>
          <p:nvPr/>
        </p:nvSpPr>
        <p:spPr>
          <a:xfrm>
            <a:off x="6205728" y="2377440"/>
            <a:ext cx="2606040" cy="2697480"/>
          </a:xfrm>
          <a:prstGeom prst="roundRect">
            <a:avLst>
              <a:gd name="adj" fmla="val 5263"/>
            </a:avLst>
          </a:prstGeom>
          <a:solidFill>
            <a:schemeClr val="bg2"/>
          </a:solidFill>
          <a:ln/>
          <a:effectLst>
            <a:outerShdw blurRad="101600" dist="25400" dir="5400000" algn="bl" rotWithShape="0">
              <a:srgbClr val="000000">
                <a:alpha val="14000"/>
              </a:srgbClr>
            </a:outerShdw>
          </a:effectLst>
        </p:spPr>
      </p:sp>
      <p:sp>
        <p:nvSpPr>
          <p:cNvPr id="16" name="Message ACCEPT / REJECT"/>
          <p:cNvSpPr txBox="1"/>
          <p:nvPr/>
        </p:nvSpPr>
        <p:spPr>
          <a:xfrm>
            <a:off x="6388608" y="2560320"/>
            <a:ext cx="2240280" cy="411480"/>
          </a:xfrm>
          <a:prstGeom prst="roundRect">
            <a:avLst>
              <a:gd name="adj" fmla="val 44444"/>
            </a:avLst>
          </a:prstGeom>
          <a:solidFill>
            <a:schemeClr val="tx2"/>
          </a:solidFill>
          <a:ln/>
        </p:spPr>
        <p:txBody>
          <a:bodyPr wrap="square" lIns="0" tIns="0" rIns="0" bIns="0" rtlCol="0" anchor="ctr"/>
          <a:lstStyle/>
          <a:p>
            <a:pPr marL="0" indent="0" algn="ctr">
              <a:buNone/>
            </a:pPr>
            <a:r>
              <a:rPr lang="en-US" sz="1400" b="1" dirty="0">
                <a:solidFill>
                  <a:schemeClr val="bg1"/>
                </a:solidFill>
              </a:rPr>
              <a:t>ACCEPT / REJECT</a:t>
            </a:r>
            <a:endParaRPr lang="en-US" sz="1400" dirty="0"/>
          </a:p>
        </p:txBody>
      </p:sp>
      <p:sp>
        <p:nvSpPr>
          <p:cNvPr id="17" name="Text 15"/>
          <p:cNvSpPr txBox="1"/>
          <p:nvPr/>
        </p:nvSpPr>
        <p:spPr>
          <a:xfrm>
            <a:off x="6388608" y="3154680"/>
            <a:ext cx="2240280" cy="731520"/>
          </a:xfrm>
          <a:prstGeom prst="rect">
            <a:avLst/>
          </a:prstGeom>
          <a:noFill/>
          <a:ln/>
        </p:spPr>
        <p:txBody>
          <a:bodyPr wrap="square" lIns="0" tIns="0" rIns="0" bIns="0" rtlCol="0" anchor="t"/>
          <a:lstStyle/>
          <a:p>
            <a:pPr marL="0" indent="0">
              <a:buNone/>
            </a:pPr>
            <a:r>
              <a:rPr lang="en-US" sz="2000" b="1" dirty="0">
                <a:solidFill>
                  <a:schemeClr val="tx2"/>
                </a:solidFill>
              </a:rPr>
              <a:t>L'infirmier choisit</a:t>
            </a:r>
            <a:endParaRPr lang="en-US" sz="2000" dirty="0"/>
          </a:p>
        </p:txBody>
      </p:sp>
      <p:sp>
        <p:nvSpPr>
          <p:cNvPr id="18" name="Text 16"/>
          <p:cNvSpPr txBox="1"/>
          <p:nvPr/>
        </p:nvSpPr>
        <p:spPr>
          <a:xfrm>
            <a:off x="6388608" y="3931920"/>
            <a:ext cx="2240280" cy="1051560"/>
          </a:xfrm>
          <a:prstGeom prst="rect">
            <a:avLst/>
          </a:prstGeom>
          <a:noFill/>
          <a:ln/>
        </p:spPr>
        <p:txBody>
          <a:bodyPr wrap="square" lIns="0" tIns="0" rIns="0" bIns="0" rtlCol="0" anchor="t"/>
          <a:lstStyle/>
          <a:p>
            <a:pPr marL="0" indent="0">
              <a:buNone/>
            </a:pPr>
            <a:r>
              <a:rPr lang="en-US" sz="1600" dirty="0">
                <a:solidFill>
                  <a:srgbClr val="000000"/>
                </a:solidFill>
              </a:rPr>
              <a:t>Il calcule un score : le meilleur est accepté, les autres refusés.</a:t>
            </a:r>
            <a:endParaRPr lang="en-US" sz="1600" dirty="0"/>
          </a:p>
        </p:txBody>
      </p:sp>
      <p:sp>
        <p:nvSpPr>
          <p:cNvPr id="19" name="Numéro 4"/>
          <p:cNvSpPr txBox="1"/>
          <p:nvPr/>
        </p:nvSpPr>
        <p:spPr>
          <a:xfrm>
            <a:off x="10017252" y="150876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0" name="Carte étape 4"/>
          <p:cNvSpPr/>
          <p:nvPr/>
        </p:nvSpPr>
        <p:spPr>
          <a:xfrm>
            <a:off x="9034272" y="2377440"/>
            <a:ext cx="2606040" cy="2697480"/>
          </a:xfrm>
          <a:prstGeom prst="roundRect">
            <a:avLst>
              <a:gd name="adj" fmla="val 5263"/>
            </a:avLst>
          </a:prstGeom>
          <a:solidFill>
            <a:schemeClr val="bg2"/>
          </a:solidFill>
          <a:ln/>
          <a:effectLst>
            <a:outerShdw blurRad="101600" dist="25400" dir="5400000" algn="bl" rotWithShape="0">
              <a:srgbClr val="000000">
                <a:alpha val="14000"/>
              </a:srgbClr>
            </a:outerShdw>
          </a:effectLst>
        </p:spPr>
      </p:sp>
      <p:sp>
        <p:nvSpPr>
          <p:cNvPr id="21" name="Message INFORM"/>
          <p:cNvSpPr txBox="1"/>
          <p:nvPr/>
        </p:nvSpPr>
        <p:spPr>
          <a:xfrm>
            <a:off x="9217152" y="2560320"/>
            <a:ext cx="2240280" cy="411480"/>
          </a:xfrm>
          <a:prstGeom prst="roundRect">
            <a:avLst>
              <a:gd name="adj" fmla="val 44444"/>
            </a:avLst>
          </a:prstGeom>
          <a:solidFill>
            <a:schemeClr val="tx2"/>
          </a:solidFill>
          <a:ln/>
        </p:spPr>
        <p:txBody>
          <a:bodyPr wrap="square" lIns="0" tIns="0" rIns="0" bIns="0" rtlCol="0" anchor="ctr"/>
          <a:lstStyle/>
          <a:p>
            <a:pPr marL="0" indent="0" algn="ctr">
              <a:buNone/>
            </a:pPr>
            <a:r>
              <a:rPr lang="en-US" sz="1400" b="1" dirty="0">
                <a:solidFill>
                  <a:schemeClr val="bg1"/>
                </a:solidFill>
              </a:rPr>
              <a:t>INFORM</a:t>
            </a:r>
            <a:endParaRPr lang="en-US" sz="1400" dirty="0"/>
          </a:p>
        </p:txBody>
      </p:sp>
      <p:sp>
        <p:nvSpPr>
          <p:cNvPr id="22" name="Text 20"/>
          <p:cNvSpPr txBox="1"/>
          <p:nvPr/>
        </p:nvSpPr>
        <p:spPr>
          <a:xfrm>
            <a:off x="9217152" y="3154680"/>
            <a:ext cx="2240280" cy="731520"/>
          </a:xfrm>
          <a:prstGeom prst="rect">
            <a:avLst/>
          </a:prstGeom>
          <a:noFill/>
          <a:ln/>
        </p:spPr>
        <p:txBody>
          <a:bodyPr wrap="square" lIns="0" tIns="0" rIns="0" bIns="0" rtlCol="0" anchor="t"/>
          <a:lstStyle/>
          <a:p>
            <a:pPr marL="0" indent="0">
              <a:buNone/>
            </a:pPr>
            <a:r>
              <a:rPr lang="en-US" sz="2000" b="1" dirty="0">
                <a:solidFill>
                  <a:schemeClr val="tx2"/>
                </a:solidFill>
              </a:rPr>
              <a:t>Le patient est prévenu</a:t>
            </a:r>
            <a:endParaRPr lang="en-US" sz="2000" dirty="0"/>
          </a:p>
        </p:txBody>
      </p:sp>
      <p:sp>
        <p:nvSpPr>
          <p:cNvPr id="23" name="Text 21"/>
          <p:cNvSpPr txBox="1"/>
          <p:nvPr/>
        </p:nvSpPr>
        <p:spPr>
          <a:xfrm>
            <a:off x="9217152" y="3931920"/>
            <a:ext cx="2240280" cy="1051560"/>
          </a:xfrm>
          <a:prstGeom prst="rect">
            <a:avLst/>
          </a:prstGeom>
          <a:noFill/>
          <a:ln/>
        </p:spPr>
        <p:txBody>
          <a:bodyPr wrap="square" lIns="0" tIns="0" rIns="0" bIns="0" rtlCol="0" anchor="t"/>
          <a:lstStyle/>
          <a:p>
            <a:pPr marL="0" indent="0">
              <a:buNone/>
            </a:pPr>
            <a:r>
              <a:rPr lang="en-US" sz="1600" dirty="0">
                <a:solidFill>
                  <a:srgbClr val="000000"/>
                </a:solidFill>
              </a:rPr>
              <a:t>Le docteur confirme et l'infirmier transmet la confirmation.</a:t>
            </a:r>
            <a:endParaRPr lang="en-US" sz="1600" dirty="0"/>
          </a:p>
        </p:txBody>
      </p:sp>
      <p:sp>
        <p:nvSpPr>
          <p:cNvPr id="24" name="Text 22"/>
          <p:cNvSpPr txBox="1"/>
          <p:nvPr/>
        </p:nvSpPr>
        <p:spPr>
          <a:xfrm>
            <a:off x="548640" y="5303520"/>
            <a:ext cx="11091672" cy="457200"/>
          </a:xfrm>
          <a:prstGeom prst="rect">
            <a:avLst/>
          </a:prstGeom>
          <a:noFill/>
          <a:ln/>
        </p:spPr>
        <p:txBody>
          <a:bodyPr wrap="square" lIns="0" tIns="0" rIns="0" bIns="0" rtlCol="0" anchor="ctr"/>
          <a:lstStyle/>
          <a:p>
            <a:pPr marL="0" indent="0">
              <a:buNone/>
            </a:pPr>
            <a:r>
              <a:rPr lang="en-US" sz="1800" i="1" dirty="0">
                <a:solidFill>
                  <a:schemeClr val="accent1"/>
                </a:solidFill>
              </a:rPr>
              <a:t>C'est le protocole Contract Net : un appel d'offres, comme pour un marché public.</a:t>
            </a:r>
            <a:endParaRPr lang="en-US" sz="1800" dirty="0"/>
          </a:p>
        </p:txBody>
      </p:sp>
      <p:sp>
        <p:nvSpPr>
          <p:cNvPr id="27"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fr-FR" dirty="0"/>
              <a:t>Qui est le meilleur choix ?</a:t>
            </a:r>
            <a:endParaRPr lang="en-US" sz="3600" dirty="0"/>
          </a:p>
        </p:txBody>
      </p:sp>
      <p:sp>
        <p:nvSpPr>
          <p:cNvPr id="3" name="Bandeau du cas"/>
          <p:cNvSpPr/>
          <p:nvPr/>
        </p:nvSpPr>
        <p:spPr>
          <a:xfrm>
            <a:off x="548640" y="1463040"/>
            <a:ext cx="11091672" cy="868680"/>
          </a:xfrm>
          <a:prstGeom prst="roundRect">
            <a:avLst>
              <a:gd name="adj" fmla="val 15789"/>
            </a:avLst>
          </a:prstGeom>
          <a:solidFill>
            <a:schemeClr val="bg2"/>
          </a:solidFill>
          <a:ln/>
          <a:effectLst>
            <a:outerShdw blurRad="101600" dist="25400" dir="5400000" algn="bl" rotWithShape="0">
              <a:srgbClr val="000000">
                <a:alpha val="14000"/>
              </a:srgbClr>
            </a:outerShdw>
          </a:effectLst>
        </p:spPr>
      </p:sp>
      <p:sp>
        <p:nvSpPr>
          <p:cNvPr id="4" name="Text 2"/>
          <p:cNvSpPr txBox="1"/>
          <p:nvPr/>
        </p:nvSpPr>
        <p:spPr>
          <a:xfrm>
            <a:off x="822960" y="1463040"/>
            <a:ext cx="10515600" cy="868680"/>
          </a:xfrm>
          <a:prstGeom prst="rect">
            <a:avLst/>
          </a:prstGeom>
          <a:noFill/>
          <a:ln/>
        </p:spPr>
        <p:txBody>
          <a:bodyPr wrap="square" lIns="0" tIns="0" rIns="0" bIns="0" rtlCol="0" anchor="ctr"/>
          <a:lstStyle/>
          <a:p>
            <a:pPr marL="0" indent="0">
              <a:buNone/>
            </a:pPr>
            <a:r>
              <a:rPr lang="en-US" sz="1800" b="1" dirty="0">
                <a:solidFill>
                  <a:schemeClr val="tx2"/>
                </a:solidFill>
              </a:rPr>
              <a:t>Cas : douleur thoracique, urgence 4, il faut un cardiologue.</a:t>
            </a:r>
            <a:endParaRPr lang="en-US" sz="1800" dirty="0"/>
          </a:p>
          <a:p>
            <a:pPr marL="0" indent="0">
              <a:buNone/>
            </a:pPr>
            <a:r>
              <a:rPr lang="en-US" sz="1800" dirty="0">
                <a:solidFill>
                  <a:schemeClr val="tx2"/>
                </a:solidFill>
              </a:rPr>
              <a:t>Les trois docteurs ont une file vide. Calculez leur score !</a:t>
            </a:r>
            <a:endParaRPr lang="en-US" sz="1800" dirty="0"/>
          </a:p>
        </p:txBody>
      </p:sp>
      <p:sp>
        <p:nvSpPr>
          <p:cNvPr id="5" name="Carte formule"/>
          <p:cNvSpPr/>
          <p:nvPr/>
        </p:nvSpPr>
        <p:spPr>
          <a:xfrm>
            <a:off x="548640" y="2560320"/>
            <a:ext cx="4572000" cy="3154680"/>
          </a:xfrm>
          <a:prstGeom prst="roundRect">
            <a:avLst>
              <a:gd name="adj" fmla="val 4348"/>
            </a:avLst>
          </a:prstGeom>
          <a:solidFill>
            <a:schemeClr val="tx2"/>
          </a:solidFill>
          <a:ln/>
        </p:spPr>
      </p:sp>
      <p:sp>
        <p:nvSpPr>
          <p:cNvPr id="6" name="Text 4"/>
          <p:cNvSpPr txBox="1"/>
          <p:nvPr/>
        </p:nvSpPr>
        <p:spPr>
          <a:xfrm>
            <a:off x="822960" y="2743200"/>
            <a:ext cx="4023360" cy="411480"/>
          </a:xfrm>
          <a:prstGeom prst="rect">
            <a:avLst/>
          </a:prstGeom>
          <a:noFill/>
          <a:ln/>
        </p:spPr>
        <p:txBody>
          <a:bodyPr wrap="square" lIns="0" tIns="0" rIns="0" bIns="0" rtlCol="0" anchor="t"/>
          <a:lstStyle/>
          <a:p>
            <a:pPr marL="0" indent="0">
              <a:buNone/>
            </a:pPr>
            <a:r>
              <a:rPr lang="en-US" sz="2200" b="1" dirty="0">
                <a:solidFill>
                  <a:schemeClr val="bg1"/>
                </a:solidFill>
              </a:rPr>
              <a:t>Le score de l'infirmier</a:t>
            </a:r>
            <a:endParaRPr lang="en-US" sz="2200" dirty="0"/>
          </a:p>
        </p:txBody>
      </p:sp>
      <p:sp>
        <p:nvSpPr>
          <p:cNvPr id="7" name="Text 5"/>
          <p:cNvSpPr txBox="1"/>
          <p:nvPr/>
        </p:nvSpPr>
        <p:spPr>
          <a:xfrm>
            <a:off x="822960" y="3291840"/>
            <a:ext cx="4023360" cy="1554480"/>
          </a:xfrm>
          <a:prstGeom prst="rect">
            <a:avLst/>
          </a:prstGeom>
          <a:noFill/>
          <a:ln/>
        </p:spPr>
        <p:txBody>
          <a:bodyPr wrap="square" lIns="0" tIns="0" rIns="0" bIns="0" rtlCol="0" anchor="t"/>
          <a:lstStyle/>
          <a:p>
            <a:pPr marL="0" indent="0">
              <a:spcAft>
                <a:spcPts val="600"/>
              </a:spcAft>
              <a:buNone/>
            </a:pPr>
            <a:r>
              <a:rPr lang="en-US" sz="2000" dirty="0">
                <a:solidFill>
                  <a:schemeClr val="bg2"/>
                </a:solidFill>
              </a:rPr>
              <a:t>(1 + urgence) × délai</a:t>
            </a:r>
            <a:endParaRPr lang="en-US" sz="2000" dirty="0"/>
          </a:p>
          <a:p>
            <a:pPr marL="0" indent="0">
              <a:spcAft>
                <a:spcPts val="600"/>
              </a:spcAft>
              <a:buNone/>
            </a:pPr>
            <a:r>
              <a:rPr lang="en-US" sz="2000" dirty="0">
                <a:solidFill>
                  <a:schemeClr val="bg2"/>
                </a:solidFill>
              </a:rPr>
              <a:t>+ 5 × file d'attente</a:t>
            </a:r>
            <a:endParaRPr lang="en-US" sz="2000" dirty="0"/>
          </a:p>
          <a:p>
            <a:pPr marL="0" indent="0">
              <a:spcAft>
                <a:spcPts val="600"/>
              </a:spcAft>
              <a:buNone/>
            </a:pPr>
            <a:r>
              <a:rPr lang="en-US" sz="2000" dirty="0">
                <a:solidFill>
                  <a:schemeClr val="bg2"/>
                </a:solidFill>
              </a:rPr>
              <a:t>+ 50 si mauvaise spécialité</a:t>
            </a:r>
            <a:endParaRPr lang="en-US" sz="2000" dirty="0"/>
          </a:p>
        </p:txBody>
      </p:sp>
      <p:sp>
        <p:nvSpPr>
          <p:cNvPr id="8" name="Text 6"/>
          <p:cNvSpPr txBox="1"/>
          <p:nvPr/>
        </p:nvSpPr>
        <p:spPr>
          <a:xfrm>
            <a:off x="822960" y="5029200"/>
            <a:ext cx="4023360" cy="457200"/>
          </a:xfrm>
          <a:prstGeom prst="rect">
            <a:avLst/>
          </a:prstGeom>
          <a:noFill/>
          <a:ln/>
        </p:spPr>
        <p:txBody>
          <a:bodyPr wrap="square" lIns="0" tIns="0" rIns="0" bIns="0" rtlCol="0" anchor="ctr"/>
          <a:lstStyle/>
          <a:p>
            <a:pPr marL="0" indent="0">
              <a:buNone/>
            </a:pPr>
            <a:r>
              <a:rPr lang="en-US" sz="1800" b="1" dirty="0">
                <a:solidFill>
                  <a:schemeClr val="accent3"/>
                </a:solidFill>
              </a:rPr>
              <a:t>Le plus petit score gagne.</a:t>
            </a:r>
            <a:endParaRPr lang="en-US" sz="1800" dirty="0"/>
          </a:p>
        </p:txBody>
      </p:sp>
      <p:sp>
        <p:nvSpPr>
          <p:cNvPr id="9" name="Carte docteur A"/>
          <p:cNvSpPr/>
          <p:nvPr/>
        </p:nvSpPr>
        <p:spPr>
          <a:xfrm>
            <a:off x="5394960" y="2560320"/>
            <a:ext cx="6245352" cy="914400"/>
          </a:xfrm>
          <a:prstGeom prst="roundRect">
            <a:avLst>
              <a:gd name="adj" fmla="val 15000"/>
            </a:avLst>
          </a:prstGeom>
          <a:solidFill>
            <a:schemeClr val="bg2"/>
          </a:solidFill>
          <a:ln/>
          <a:effectLst>
            <a:outerShdw blurRad="101600" dist="25400" dir="5400000" algn="bl" rotWithShape="0">
              <a:srgbClr val="000000">
                <a:alpha val="14000"/>
              </a:srgbClr>
            </a:outerShdw>
          </a:effectLst>
        </p:spPr>
      </p:sp>
      <p:sp>
        <p:nvSpPr>
          <p:cNvPr id="10" name="Lettre A"/>
          <p:cNvSpPr txBox="1"/>
          <p:nvPr/>
        </p:nvSpPr>
        <p:spPr>
          <a:xfrm>
            <a:off x="5623560" y="2697480"/>
            <a:ext cx="640080" cy="640080"/>
          </a:xfrm>
          <a:prstGeom prst="ellipse">
            <a:avLst/>
          </a:prstGeom>
          <a:solidFill>
            <a:schemeClr val="accent6"/>
          </a:solidFill>
          <a:ln/>
        </p:spPr>
        <p:txBody>
          <a:bodyPr wrap="square" lIns="0" tIns="0" rIns="0" bIns="0" rtlCol="0" anchor="ctr"/>
          <a:lstStyle/>
          <a:p>
            <a:pPr marL="0" indent="0" algn="ctr">
              <a:buNone/>
            </a:pPr>
            <a:r>
              <a:rPr lang="en-US" sz="2400" b="1" dirty="0">
                <a:solidFill>
                  <a:schemeClr val="bg1"/>
                </a:solidFill>
              </a:rPr>
              <a:t>A</a:t>
            </a:r>
            <a:endParaRPr lang="en-US" sz="2400" dirty="0"/>
          </a:p>
        </p:txBody>
      </p:sp>
      <p:sp>
        <p:nvSpPr>
          <p:cNvPr id="11" name="Text 9"/>
          <p:cNvSpPr txBox="1"/>
          <p:nvPr/>
        </p:nvSpPr>
        <p:spPr>
          <a:xfrm>
            <a:off x="6492240" y="2651760"/>
            <a:ext cx="3017520" cy="731520"/>
          </a:xfrm>
          <a:prstGeom prst="rect">
            <a:avLst/>
          </a:prstGeom>
          <a:noFill/>
          <a:ln/>
        </p:spPr>
        <p:txBody>
          <a:bodyPr wrap="square" lIns="0" tIns="0" rIns="0" bIns="0" rtlCol="0" anchor="ctr"/>
          <a:lstStyle/>
          <a:p>
            <a:pPr marL="0" indent="0">
              <a:buNone/>
            </a:pPr>
            <a:r>
              <a:rPr lang="en-US" sz="1600" b="1" dirty="0">
                <a:solidFill>
                  <a:schemeClr val="tx2"/>
                </a:solidFill>
              </a:rPr>
              <a:t>Docteur A · Généraliste</a:t>
            </a:r>
            <a:endParaRPr lang="en-US" sz="1600" dirty="0"/>
          </a:p>
          <a:p>
            <a:pPr marL="0" indent="0">
              <a:buNone/>
            </a:pPr>
            <a:r>
              <a:rPr lang="en-US" sz="1600" dirty="0">
                <a:solidFill>
                  <a:schemeClr val="tx2"/>
                </a:solidFill>
              </a:rPr>
              <a:t>File d'attente : 0</a:t>
            </a:r>
            <a:endParaRPr lang="en-US" sz="1600" dirty="0"/>
          </a:p>
        </p:txBody>
      </p:sp>
      <p:sp>
        <p:nvSpPr>
          <p:cNvPr id="12" name="Délai A"/>
          <p:cNvSpPr txBox="1"/>
          <p:nvPr/>
        </p:nvSpPr>
        <p:spPr>
          <a:xfrm>
            <a:off x="9601200" y="2651760"/>
            <a:ext cx="1783080" cy="731520"/>
          </a:xfrm>
          <a:prstGeom prst="rect">
            <a:avLst/>
          </a:prstGeom>
          <a:noFill/>
          <a:ln/>
        </p:spPr>
        <p:txBody>
          <a:bodyPr wrap="square" lIns="0" tIns="0" rIns="0" bIns="0" rtlCol="0" anchor="ctr"/>
          <a:lstStyle/>
          <a:p>
            <a:pPr marL="0" indent="0" algn="r">
              <a:buNone/>
            </a:pPr>
            <a:r>
              <a:rPr lang="en-US" sz="3200" b="1" dirty="0">
                <a:solidFill>
                  <a:schemeClr val="accent1"/>
                </a:solidFill>
              </a:rPr>
              <a:t>5 min</a:t>
            </a:r>
            <a:endParaRPr lang="en-US" sz="3200" dirty="0"/>
          </a:p>
        </p:txBody>
      </p:sp>
      <p:sp>
        <p:nvSpPr>
          <p:cNvPr id="13" name="Carte docteur B"/>
          <p:cNvSpPr/>
          <p:nvPr/>
        </p:nvSpPr>
        <p:spPr>
          <a:xfrm>
            <a:off x="5394960" y="3680460"/>
            <a:ext cx="6245352" cy="914400"/>
          </a:xfrm>
          <a:prstGeom prst="roundRect">
            <a:avLst>
              <a:gd name="adj" fmla="val 15000"/>
            </a:avLst>
          </a:prstGeom>
          <a:solidFill>
            <a:schemeClr val="bg2"/>
          </a:solidFill>
          <a:ln/>
          <a:effectLst>
            <a:outerShdw blurRad="101600" dist="25400" dir="5400000" algn="bl" rotWithShape="0">
              <a:srgbClr val="000000">
                <a:alpha val="14000"/>
              </a:srgbClr>
            </a:outerShdw>
          </a:effectLst>
        </p:spPr>
      </p:sp>
      <p:sp>
        <p:nvSpPr>
          <p:cNvPr id="14" name="Lettre B"/>
          <p:cNvSpPr txBox="1"/>
          <p:nvPr/>
        </p:nvSpPr>
        <p:spPr>
          <a:xfrm>
            <a:off x="5623560" y="3817620"/>
            <a:ext cx="640080" cy="640080"/>
          </a:xfrm>
          <a:prstGeom prst="ellipse">
            <a:avLst/>
          </a:prstGeom>
          <a:solidFill>
            <a:schemeClr val="accent6"/>
          </a:solidFill>
          <a:ln/>
        </p:spPr>
        <p:txBody>
          <a:bodyPr wrap="square" lIns="0" tIns="0" rIns="0" bIns="0" rtlCol="0" anchor="ctr"/>
          <a:lstStyle/>
          <a:p>
            <a:pPr marL="0" indent="0" algn="ctr">
              <a:buNone/>
            </a:pPr>
            <a:r>
              <a:rPr lang="en-US" sz="2400" b="1" dirty="0">
                <a:solidFill>
                  <a:schemeClr val="bg1"/>
                </a:solidFill>
              </a:rPr>
              <a:t>B</a:t>
            </a:r>
            <a:endParaRPr lang="en-US" sz="2400" dirty="0"/>
          </a:p>
        </p:txBody>
      </p:sp>
      <p:sp>
        <p:nvSpPr>
          <p:cNvPr id="15" name="Text 13"/>
          <p:cNvSpPr txBox="1"/>
          <p:nvPr/>
        </p:nvSpPr>
        <p:spPr>
          <a:xfrm>
            <a:off x="6492240" y="3771900"/>
            <a:ext cx="3017520" cy="731520"/>
          </a:xfrm>
          <a:prstGeom prst="rect">
            <a:avLst/>
          </a:prstGeom>
          <a:noFill/>
          <a:ln/>
        </p:spPr>
        <p:txBody>
          <a:bodyPr wrap="square" lIns="0" tIns="0" rIns="0" bIns="0" rtlCol="0" anchor="ctr"/>
          <a:lstStyle/>
          <a:p>
            <a:pPr marL="0" indent="0">
              <a:buNone/>
            </a:pPr>
            <a:r>
              <a:rPr lang="en-US" sz="1600" b="1" dirty="0">
                <a:solidFill>
                  <a:schemeClr val="tx2"/>
                </a:solidFill>
              </a:rPr>
              <a:t>Docteur B · Cardiologue</a:t>
            </a:r>
            <a:endParaRPr lang="en-US" sz="1600" dirty="0"/>
          </a:p>
          <a:p>
            <a:pPr marL="0" indent="0">
              <a:buNone/>
            </a:pPr>
            <a:r>
              <a:rPr lang="en-US" sz="1600" dirty="0">
                <a:solidFill>
                  <a:schemeClr val="tx2"/>
                </a:solidFill>
              </a:rPr>
              <a:t>File d'attente : 0</a:t>
            </a:r>
            <a:endParaRPr lang="en-US" sz="1600" dirty="0"/>
          </a:p>
        </p:txBody>
      </p:sp>
      <p:sp>
        <p:nvSpPr>
          <p:cNvPr id="16" name="Délai B"/>
          <p:cNvSpPr txBox="1"/>
          <p:nvPr/>
        </p:nvSpPr>
        <p:spPr>
          <a:xfrm>
            <a:off x="9601200" y="3771900"/>
            <a:ext cx="1783080" cy="731520"/>
          </a:xfrm>
          <a:prstGeom prst="rect">
            <a:avLst/>
          </a:prstGeom>
          <a:noFill/>
          <a:ln/>
        </p:spPr>
        <p:txBody>
          <a:bodyPr wrap="square" lIns="0" tIns="0" rIns="0" bIns="0" rtlCol="0" anchor="ctr"/>
          <a:lstStyle/>
          <a:p>
            <a:pPr marL="0" indent="0" algn="r">
              <a:buNone/>
            </a:pPr>
            <a:r>
              <a:rPr lang="en-US" sz="3200" b="1" dirty="0">
                <a:solidFill>
                  <a:schemeClr val="accent1"/>
                </a:solidFill>
              </a:rPr>
              <a:t>10 min</a:t>
            </a:r>
            <a:endParaRPr lang="en-US" sz="3200" dirty="0"/>
          </a:p>
        </p:txBody>
      </p:sp>
      <p:sp>
        <p:nvSpPr>
          <p:cNvPr id="17" name="Carte docteur C"/>
          <p:cNvSpPr/>
          <p:nvPr/>
        </p:nvSpPr>
        <p:spPr>
          <a:xfrm>
            <a:off x="5394960" y="4800600"/>
            <a:ext cx="6245352" cy="914400"/>
          </a:xfrm>
          <a:prstGeom prst="roundRect">
            <a:avLst>
              <a:gd name="adj" fmla="val 15000"/>
            </a:avLst>
          </a:prstGeom>
          <a:solidFill>
            <a:schemeClr val="bg2"/>
          </a:solidFill>
          <a:ln/>
          <a:effectLst>
            <a:outerShdw blurRad="101600" dist="25400" dir="5400000" algn="bl" rotWithShape="0">
              <a:srgbClr val="000000">
                <a:alpha val="14000"/>
              </a:srgbClr>
            </a:outerShdw>
          </a:effectLst>
        </p:spPr>
      </p:sp>
      <p:sp>
        <p:nvSpPr>
          <p:cNvPr id="18" name="Lettre C"/>
          <p:cNvSpPr txBox="1"/>
          <p:nvPr/>
        </p:nvSpPr>
        <p:spPr>
          <a:xfrm>
            <a:off x="5623560" y="4937760"/>
            <a:ext cx="640080" cy="640080"/>
          </a:xfrm>
          <a:prstGeom prst="ellipse">
            <a:avLst/>
          </a:prstGeom>
          <a:solidFill>
            <a:schemeClr val="accent6"/>
          </a:solidFill>
          <a:ln/>
        </p:spPr>
        <p:txBody>
          <a:bodyPr wrap="square" lIns="0" tIns="0" rIns="0" bIns="0" rtlCol="0" anchor="ctr"/>
          <a:lstStyle/>
          <a:p>
            <a:pPr marL="0" indent="0" algn="ctr">
              <a:buNone/>
            </a:pPr>
            <a:r>
              <a:rPr lang="en-US" sz="2400" b="1" dirty="0">
                <a:solidFill>
                  <a:schemeClr val="bg1"/>
                </a:solidFill>
              </a:rPr>
              <a:t>C</a:t>
            </a:r>
            <a:endParaRPr lang="en-US" sz="2400" dirty="0"/>
          </a:p>
        </p:txBody>
      </p:sp>
      <p:sp>
        <p:nvSpPr>
          <p:cNvPr id="19" name="Text 17"/>
          <p:cNvSpPr txBox="1"/>
          <p:nvPr/>
        </p:nvSpPr>
        <p:spPr>
          <a:xfrm>
            <a:off x="6492240" y="4892040"/>
            <a:ext cx="3017520" cy="731520"/>
          </a:xfrm>
          <a:prstGeom prst="rect">
            <a:avLst/>
          </a:prstGeom>
          <a:noFill/>
          <a:ln/>
        </p:spPr>
        <p:txBody>
          <a:bodyPr wrap="square" lIns="0" tIns="0" rIns="0" bIns="0" rtlCol="0" anchor="ctr"/>
          <a:lstStyle/>
          <a:p>
            <a:pPr marL="0" indent="0">
              <a:buNone/>
            </a:pPr>
            <a:r>
              <a:rPr lang="en-US" sz="1600" b="1" dirty="0">
                <a:solidFill>
                  <a:schemeClr val="tx2"/>
                </a:solidFill>
              </a:rPr>
              <a:t>Docteur C · Cardiologue</a:t>
            </a:r>
            <a:endParaRPr lang="en-US" sz="1600" dirty="0"/>
          </a:p>
          <a:p>
            <a:pPr marL="0" indent="0">
              <a:buNone/>
            </a:pPr>
            <a:r>
              <a:rPr lang="en-US" sz="1600" dirty="0">
                <a:solidFill>
                  <a:schemeClr val="tx2"/>
                </a:solidFill>
              </a:rPr>
              <a:t>File d'attente : 0</a:t>
            </a:r>
            <a:endParaRPr lang="en-US" sz="1600" dirty="0"/>
          </a:p>
        </p:txBody>
      </p:sp>
      <p:sp>
        <p:nvSpPr>
          <p:cNvPr id="20" name="Délai C"/>
          <p:cNvSpPr txBox="1"/>
          <p:nvPr/>
        </p:nvSpPr>
        <p:spPr>
          <a:xfrm>
            <a:off x="9601200" y="4892040"/>
            <a:ext cx="1783080" cy="731520"/>
          </a:xfrm>
          <a:prstGeom prst="rect">
            <a:avLst/>
          </a:prstGeom>
          <a:noFill/>
          <a:ln/>
        </p:spPr>
        <p:txBody>
          <a:bodyPr wrap="square" lIns="0" tIns="0" rIns="0" bIns="0" rtlCol="0" anchor="ctr"/>
          <a:lstStyle/>
          <a:p>
            <a:pPr marL="0" indent="0" algn="r">
              <a:buNone/>
            </a:pPr>
            <a:r>
              <a:rPr lang="en-US" sz="3200" b="1" dirty="0">
                <a:solidFill>
                  <a:schemeClr val="accent1"/>
                </a:solidFill>
              </a:rPr>
              <a:t>25 min</a:t>
            </a:r>
            <a:endParaRPr lang="en-US" sz="32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600" b="1" dirty="0">
                <a:solidFill>
                  <a:schemeClr val="tx2"/>
                </a:solidFill>
              </a:rPr>
              <a:t>Le plus rapide a perdu</a:t>
            </a:r>
            <a:endParaRPr lang="en-US" sz="3600" dirty="0"/>
          </a:p>
        </p:txBody>
      </p:sp>
      <p:graphicFrame>
        <p:nvGraphicFramePr>
          <p:cNvPr id="3" name="Chart 0"/>
          <p:cNvGraphicFramePr/>
          <p:nvPr/>
        </p:nvGraphicFramePr>
        <p:xfrm>
          <a:off x="548640" y="1463040"/>
          <a:ext cx="64008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te Chafik"/>
          <p:cNvSpPr/>
          <p:nvPr/>
        </p:nvSpPr>
        <p:spPr>
          <a:xfrm>
            <a:off x="7223760" y="1554480"/>
            <a:ext cx="4416552" cy="2011680"/>
          </a:xfrm>
          <a:prstGeom prst="roundRect">
            <a:avLst>
              <a:gd name="adj" fmla="val 6818"/>
            </a:avLst>
          </a:prstGeom>
          <a:solidFill>
            <a:schemeClr val="bg2"/>
          </a:solidFill>
          <a:ln/>
          <a:effectLst>
            <a:outerShdw blurRad="101600" dist="25400" dir="5400000" algn="bl" rotWithShape="0">
              <a:srgbClr val="000000">
                <a:alpha val="14000"/>
              </a:srgbClr>
            </a:outerShdw>
          </a:effectLst>
        </p:spPr>
      </p:sp>
      <p:sp>
        <p:nvSpPr>
          <p:cNvPr id="5" name="Score Chafik"/>
          <p:cNvSpPr txBox="1"/>
          <p:nvPr/>
        </p:nvSpPr>
        <p:spPr>
          <a:xfrm>
            <a:off x="7452360" y="1783080"/>
            <a:ext cx="1188720" cy="914400"/>
          </a:xfrm>
          <a:prstGeom prst="rect">
            <a:avLst/>
          </a:prstGeom>
          <a:noFill/>
          <a:ln/>
        </p:spPr>
        <p:txBody>
          <a:bodyPr wrap="square" lIns="0" tIns="0" rIns="0" bIns="0" rtlCol="0" anchor="ctr"/>
          <a:lstStyle/>
          <a:p>
            <a:pPr marL="0" indent="0" algn="ctr">
              <a:buNone/>
            </a:pPr>
            <a:r>
              <a:rPr lang="en-US" sz="5400" b="1" dirty="0">
                <a:solidFill>
                  <a:schemeClr val="accent2"/>
                </a:solidFill>
              </a:rPr>
              <a:t>75</a:t>
            </a:r>
            <a:endParaRPr lang="en-US" sz="5400" dirty="0"/>
          </a:p>
        </p:txBody>
      </p:sp>
      <p:sp>
        <p:nvSpPr>
          <p:cNvPr id="6" name="Text 3"/>
          <p:cNvSpPr txBox="1"/>
          <p:nvPr/>
        </p:nvSpPr>
        <p:spPr>
          <a:xfrm>
            <a:off x="7452360" y="2697480"/>
            <a:ext cx="1188720" cy="320040"/>
          </a:xfrm>
          <a:prstGeom prst="rect">
            <a:avLst/>
          </a:prstGeom>
          <a:noFill/>
          <a:ln/>
        </p:spPr>
        <p:txBody>
          <a:bodyPr wrap="square" lIns="0" tIns="0" rIns="0" bIns="0" rtlCol="0" anchor="t"/>
          <a:lstStyle/>
          <a:p>
            <a:pPr marL="0" indent="0" algn="ctr">
              <a:buNone/>
            </a:pPr>
            <a:r>
              <a:rPr lang="en-US" sz="1200" dirty="0">
                <a:solidFill>
                  <a:schemeClr val="accent5"/>
                </a:solidFill>
              </a:rPr>
              <a:t>score</a:t>
            </a:r>
            <a:endParaRPr lang="en-US" sz="1200" dirty="0"/>
          </a:p>
        </p:txBody>
      </p:sp>
      <p:sp>
        <p:nvSpPr>
          <p:cNvPr id="7" name="Text 4"/>
          <p:cNvSpPr txBox="1"/>
          <p:nvPr/>
        </p:nvSpPr>
        <p:spPr>
          <a:xfrm>
            <a:off x="8823960" y="1737360"/>
            <a:ext cx="2606040" cy="1645920"/>
          </a:xfrm>
          <a:prstGeom prst="rect">
            <a:avLst/>
          </a:prstGeom>
          <a:noFill/>
          <a:ln/>
        </p:spPr>
        <p:txBody>
          <a:bodyPr wrap="square" lIns="0" tIns="0" rIns="0" bIns="0" rtlCol="0" anchor="ctr"/>
          <a:lstStyle/>
          <a:p>
            <a:pPr marL="0" indent="0">
              <a:buNone/>
            </a:pPr>
            <a:r>
              <a:rPr lang="en-US" sz="2000" b="1" dirty="0">
                <a:solidFill>
                  <a:schemeClr val="tx2"/>
                </a:solidFill>
              </a:rPr>
              <a:t>Dr Chafik, le plus rapide</a:t>
            </a:r>
            <a:endParaRPr lang="en-US" sz="2000" dirty="0"/>
          </a:p>
          <a:p>
            <a:pPr marL="0" indent="0">
              <a:buNone/>
            </a:pPr>
            <a:r>
              <a:rPr lang="en-US" sz="1600" dirty="0">
                <a:solidFill>
                  <a:srgbClr val="000000"/>
                </a:solidFill>
              </a:rPr>
              <a:t>5 min, mais pas cardiologue : 50 points de pénalité.</a:t>
            </a:r>
            <a:endParaRPr lang="en-US" sz="2000" dirty="0"/>
          </a:p>
        </p:txBody>
      </p:sp>
      <p:sp>
        <p:nvSpPr>
          <p:cNvPr id="8" name="Carte Alami"/>
          <p:cNvSpPr/>
          <p:nvPr/>
        </p:nvSpPr>
        <p:spPr>
          <a:xfrm>
            <a:off x="7223760" y="3794760"/>
            <a:ext cx="4416552" cy="1828800"/>
          </a:xfrm>
          <a:prstGeom prst="roundRect">
            <a:avLst>
              <a:gd name="adj" fmla="val 7500"/>
            </a:avLst>
          </a:prstGeom>
          <a:solidFill>
            <a:schemeClr val="bg2"/>
          </a:solidFill>
          <a:ln/>
          <a:effectLst>
            <a:outerShdw blurRad="101600" dist="25400" dir="5400000" algn="bl" rotWithShape="0">
              <a:srgbClr val="000000">
                <a:alpha val="14000"/>
              </a:srgbClr>
            </a:outerShdw>
          </a:effectLst>
        </p:spPr>
      </p:sp>
      <p:sp>
        <p:nvSpPr>
          <p:cNvPr id="9" name="Score Alami"/>
          <p:cNvSpPr txBox="1"/>
          <p:nvPr/>
        </p:nvSpPr>
        <p:spPr>
          <a:xfrm>
            <a:off x="7452360" y="3977640"/>
            <a:ext cx="1188720" cy="914400"/>
          </a:xfrm>
          <a:prstGeom prst="rect">
            <a:avLst/>
          </a:prstGeom>
          <a:noFill/>
          <a:ln/>
        </p:spPr>
        <p:txBody>
          <a:bodyPr wrap="square" lIns="0" tIns="0" rIns="0" bIns="0" rtlCol="0" anchor="ctr"/>
          <a:lstStyle/>
          <a:p>
            <a:pPr marL="0" indent="0" algn="ctr">
              <a:buNone/>
            </a:pPr>
            <a:r>
              <a:rPr lang="en-US" sz="5400" b="1" dirty="0">
                <a:solidFill>
                  <a:schemeClr val="accent1"/>
                </a:solidFill>
              </a:rPr>
              <a:t>50</a:t>
            </a:r>
            <a:endParaRPr lang="en-US" sz="5400" dirty="0"/>
          </a:p>
        </p:txBody>
      </p:sp>
      <p:sp>
        <p:nvSpPr>
          <p:cNvPr id="10" name="Text 7"/>
          <p:cNvSpPr txBox="1"/>
          <p:nvPr/>
        </p:nvSpPr>
        <p:spPr>
          <a:xfrm>
            <a:off x="7452360" y="4892040"/>
            <a:ext cx="1188720" cy="320040"/>
          </a:xfrm>
          <a:prstGeom prst="rect">
            <a:avLst/>
          </a:prstGeom>
          <a:noFill/>
          <a:ln/>
        </p:spPr>
        <p:txBody>
          <a:bodyPr wrap="square" lIns="0" tIns="0" rIns="0" bIns="0" rtlCol="0" anchor="t"/>
          <a:lstStyle/>
          <a:p>
            <a:pPr marL="0" indent="0" algn="ctr">
              <a:buNone/>
            </a:pPr>
            <a:r>
              <a:rPr lang="en-US" sz="1200" dirty="0">
                <a:solidFill>
                  <a:schemeClr val="accent5"/>
                </a:solidFill>
              </a:rPr>
              <a:t>score</a:t>
            </a:r>
            <a:endParaRPr lang="en-US" sz="1200" dirty="0"/>
          </a:p>
        </p:txBody>
      </p:sp>
      <p:sp>
        <p:nvSpPr>
          <p:cNvPr id="11" name="Text 8"/>
          <p:cNvSpPr txBox="1"/>
          <p:nvPr/>
        </p:nvSpPr>
        <p:spPr>
          <a:xfrm>
            <a:off x="8823960" y="3931920"/>
            <a:ext cx="2606040" cy="1554480"/>
          </a:xfrm>
          <a:prstGeom prst="rect">
            <a:avLst/>
          </a:prstGeom>
          <a:noFill/>
          <a:ln/>
        </p:spPr>
        <p:txBody>
          <a:bodyPr wrap="square" lIns="0" tIns="0" rIns="0" bIns="0" rtlCol="0" anchor="ctr"/>
          <a:lstStyle/>
          <a:p>
            <a:pPr marL="0" indent="0">
              <a:buNone/>
            </a:pPr>
            <a:r>
              <a:rPr lang="en-US" sz="2000" b="1" dirty="0">
                <a:solidFill>
                  <a:schemeClr val="tx2"/>
                </a:solidFill>
              </a:rPr>
              <a:t>Dr Alami, le bon spécialiste</a:t>
            </a:r>
            <a:endParaRPr lang="en-US" sz="2000" dirty="0"/>
          </a:p>
          <a:p>
            <a:pPr marL="0" indent="0">
              <a:buNone/>
            </a:pPr>
            <a:r>
              <a:rPr lang="en-US" sz="1600" dirty="0">
                <a:solidFill>
                  <a:srgbClr val="000000"/>
                </a:solidFill>
              </a:rPr>
              <a:t>10 min, cardiologue : il gagne.</a:t>
            </a:r>
            <a:endParaRPr lang="en-US" sz="20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600" b="1" dirty="0">
                <a:solidFill>
                  <a:schemeClr val="tx2"/>
                </a:solidFill>
              </a:rPr>
              <a:t>Démo en direct</a:t>
            </a:r>
            <a:endParaRPr lang="en-US" sz="3600" dirty="0"/>
          </a:p>
        </p:txBody>
      </p:sp>
      <p:sp>
        <p:nvSpPr>
          <p:cNvPr id="3" name="Numéro 1"/>
          <p:cNvSpPr txBox="1"/>
          <p:nvPr/>
        </p:nvSpPr>
        <p:spPr>
          <a:xfrm>
            <a:off x="548640" y="160020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4" name="Étape démo 1"/>
          <p:cNvSpPr txBox="1"/>
          <p:nvPr/>
        </p:nvSpPr>
        <p:spPr>
          <a:xfrm>
            <a:off x="1417320" y="1600200"/>
            <a:ext cx="3931920" cy="640080"/>
          </a:xfrm>
          <a:prstGeom prst="rect">
            <a:avLst/>
          </a:prstGeom>
          <a:noFill/>
          <a:ln/>
        </p:spPr>
        <p:txBody>
          <a:bodyPr wrap="square" lIns="0" tIns="0" rIns="0" bIns="0" rtlCol="0" anchor="ctr"/>
          <a:lstStyle/>
          <a:p>
            <a:pPr marL="0" indent="0">
              <a:buNone/>
            </a:pPr>
            <a:r>
              <a:rPr lang="en-US" sz="2000" b="1" dirty="0">
                <a:solidFill>
                  <a:schemeClr val="tx2"/>
                </a:solidFill>
              </a:rPr>
              <a:t>Choisir un symptôme</a:t>
            </a:r>
            <a:endParaRPr lang="en-US" sz="2000" dirty="0"/>
          </a:p>
        </p:txBody>
      </p:sp>
      <p:sp>
        <p:nvSpPr>
          <p:cNvPr id="5" name="Numéro 2"/>
          <p:cNvSpPr txBox="1"/>
          <p:nvPr/>
        </p:nvSpPr>
        <p:spPr>
          <a:xfrm>
            <a:off x="548640" y="278892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6" name="Étape démo 2"/>
          <p:cNvSpPr txBox="1"/>
          <p:nvPr/>
        </p:nvSpPr>
        <p:spPr>
          <a:xfrm>
            <a:off x="1417320" y="2788920"/>
            <a:ext cx="3931920" cy="640080"/>
          </a:xfrm>
          <a:prstGeom prst="rect">
            <a:avLst/>
          </a:prstGeom>
          <a:noFill/>
          <a:ln/>
        </p:spPr>
        <p:txBody>
          <a:bodyPr wrap="square" lIns="0" tIns="0" rIns="0" bIns="0" rtlCol="0" anchor="ctr"/>
          <a:lstStyle/>
          <a:p>
            <a:pPr marL="0" indent="0">
              <a:buNone/>
            </a:pPr>
            <a:r>
              <a:rPr lang="en-US" sz="2000" b="1" dirty="0">
                <a:solidFill>
                  <a:schemeClr val="tx2"/>
                </a:solidFill>
              </a:rPr>
              <a:t>Cliquer sur « Envoyer aux urgences »</a:t>
            </a:r>
            <a:endParaRPr lang="en-US" sz="2000" dirty="0"/>
          </a:p>
        </p:txBody>
      </p:sp>
      <p:sp>
        <p:nvSpPr>
          <p:cNvPr id="7" name="Numéro 3"/>
          <p:cNvSpPr txBox="1"/>
          <p:nvPr/>
        </p:nvSpPr>
        <p:spPr>
          <a:xfrm>
            <a:off x="548640" y="3977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8" name="Étape démo 3"/>
          <p:cNvSpPr txBox="1"/>
          <p:nvPr/>
        </p:nvSpPr>
        <p:spPr>
          <a:xfrm>
            <a:off x="1417320" y="3977640"/>
            <a:ext cx="3931920" cy="640080"/>
          </a:xfrm>
          <a:prstGeom prst="rect">
            <a:avLst/>
          </a:prstGeom>
          <a:noFill/>
          <a:ln/>
        </p:spPr>
        <p:txBody>
          <a:bodyPr wrap="square" lIns="0" tIns="0" rIns="0" bIns="0" rtlCol="0" anchor="ctr"/>
          <a:lstStyle/>
          <a:p>
            <a:pPr marL="0" indent="0">
              <a:buNone/>
            </a:pPr>
            <a:r>
              <a:rPr lang="en-US" sz="2000" b="1" dirty="0">
                <a:solidFill>
                  <a:schemeClr val="tx2"/>
                </a:solidFill>
              </a:rPr>
              <a:t>Suivre les messages ACL dans le journal</a:t>
            </a:r>
            <a:endParaRPr lang="en-US" sz="2000" dirty="0"/>
          </a:p>
        </p:txBody>
      </p:sp>
      <p:sp>
        <p:nvSpPr>
          <p:cNvPr id="9" name="Terminal journal"/>
          <p:cNvSpPr/>
          <p:nvPr/>
        </p:nvSpPr>
        <p:spPr>
          <a:xfrm>
            <a:off x="5669280" y="1554480"/>
            <a:ext cx="5971032" cy="2880360"/>
          </a:xfrm>
          <a:prstGeom prst="roundRect">
            <a:avLst>
              <a:gd name="adj" fmla="val 4762"/>
            </a:avLst>
          </a:prstGeom>
          <a:solidFill>
            <a:schemeClr val="tx1"/>
          </a:solidFill>
          <a:ln/>
        </p:spPr>
      </p:sp>
      <p:sp>
        <p:nvSpPr>
          <p:cNvPr id="10" name="Text 8"/>
          <p:cNvSpPr txBox="1"/>
          <p:nvPr/>
        </p:nvSpPr>
        <p:spPr>
          <a:xfrm>
            <a:off x="5943600" y="1737360"/>
            <a:ext cx="5486400" cy="274320"/>
          </a:xfrm>
          <a:prstGeom prst="rect">
            <a:avLst/>
          </a:prstGeom>
          <a:noFill/>
          <a:ln/>
        </p:spPr>
        <p:txBody>
          <a:bodyPr wrap="square" lIns="0" tIns="0" rIns="0" bIns="0" rtlCol="0" anchor="t"/>
          <a:lstStyle/>
          <a:p>
            <a:pPr marL="0" indent="0">
              <a:buNone/>
            </a:pPr>
            <a:r>
              <a:rPr lang="en-US" sz="1200" dirty="0">
                <a:solidFill>
                  <a:schemeClr val="bg2"/>
                </a:solidFill>
              </a:rPr>
              <a:t>Extrait abrégé du journal réel (dossier DOS-004)</a:t>
            </a:r>
            <a:endParaRPr lang="en-US" sz="1200" dirty="0"/>
          </a:p>
        </p:txBody>
      </p:sp>
      <p:sp>
        <p:nvSpPr>
          <p:cNvPr id="11" name="Lignes du journal"/>
          <p:cNvSpPr txBox="1"/>
          <p:nvPr/>
        </p:nvSpPr>
        <p:spPr>
          <a:xfrm>
            <a:off x="5943600" y="2148840"/>
            <a:ext cx="5486400" cy="2103120"/>
          </a:xfrm>
          <a:prstGeom prst="rect">
            <a:avLst/>
          </a:prstGeom>
          <a:noFill/>
          <a:ln/>
        </p:spPr>
        <p:txBody>
          <a:bodyPr wrap="square" lIns="0" tIns="0" rIns="0" bIns="0" rtlCol="0" anchor="t"/>
          <a:lstStyle/>
          <a:p>
            <a:pPr marL="0" indent="0">
              <a:spcAft>
                <a:spcPts val="500"/>
              </a:spcAft>
              <a:buNone/>
            </a:pPr>
            <a:r>
              <a:rPr lang="en-US" sz="1400" dirty="0">
                <a:solidFill>
                  <a:schemeClr val="accent4"/>
                </a:solidFill>
                <a:latin typeface="Courier New" pitchFamily="34" charset="0"/>
                <a:ea typeface="Courier New" pitchFamily="34" charset="-122"/>
                <a:cs typeface="Courier New" pitchFamily="34" charset="-120"/>
              </a:rPr>
              <a:t>Infirmier1 | CFP DOS-004 envoye a 6 docteur(s).</a:t>
            </a:r>
            <a:endParaRPr lang="en-US" sz="1400" dirty="0"/>
          </a:p>
          <a:p>
            <a:pPr marL="0" indent="0">
              <a:spcAft>
                <a:spcPts val="500"/>
              </a:spcAft>
              <a:buNone/>
            </a:pPr>
            <a:r>
              <a:rPr lang="en-US" sz="1400" dirty="0">
                <a:solidFill>
                  <a:schemeClr val="accent4"/>
                </a:solidFill>
                <a:latin typeface="Courier New" pitchFamily="34" charset="0"/>
                <a:ea typeface="Courier New" pitchFamily="34" charset="-122"/>
                <a:cs typeface="Courier New" pitchFamily="34" charset="-120"/>
              </a:rPr>
              <a:t>Dr_Alami   | PROPOSE delai=10min, file=0</a:t>
            </a:r>
            <a:endParaRPr lang="en-US" sz="1400" dirty="0"/>
          </a:p>
          <a:p>
            <a:pPr marL="0" indent="0">
              <a:spcAft>
                <a:spcPts val="500"/>
              </a:spcAft>
              <a:buNone/>
            </a:pPr>
            <a:r>
              <a:rPr lang="en-US" sz="1400" dirty="0">
                <a:solidFill>
                  <a:schemeClr val="accent4"/>
                </a:solidFill>
                <a:latin typeface="Courier New" pitchFamily="34" charset="0"/>
                <a:ea typeface="Courier New" pitchFamily="34" charset="-122"/>
                <a:cs typeface="Courier New" pitchFamily="34" charset="-120"/>
              </a:rPr>
              <a:t>Dr_Chafik  | PROPOSE delai=5min, file=0</a:t>
            </a:r>
            <a:endParaRPr lang="en-US" sz="1400" dirty="0"/>
          </a:p>
          <a:p>
            <a:pPr marL="0" indent="0">
              <a:spcAft>
                <a:spcPts val="500"/>
              </a:spcAft>
              <a:buNone/>
            </a:pPr>
            <a:r>
              <a:rPr lang="en-US" sz="1400" dirty="0">
                <a:solidFill>
                  <a:schemeClr val="accent4"/>
                </a:solidFill>
                <a:latin typeface="Courier New" pitchFamily="34" charset="0"/>
                <a:ea typeface="Courier New" pitchFamily="34" charset="-122"/>
                <a:cs typeface="Courier New" pitchFamily="34" charset="-120"/>
              </a:rPr>
              <a:t>Infirmier1 | BEST PROP = Dr_Alami (score 50,00)</a:t>
            </a:r>
            <a:endParaRPr lang="en-US" sz="1400" dirty="0"/>
          </a:p>
          <a:p>
            <a:pPr marL="0" indent="0">
              <a:spcAft>
                <a:spcPts val="500"/>
              </a:spcAft>
              <a:buNone/>
            </a:pPr>
            <a:r>
              <a:rPr lang="en-US" sz="1400" dirty="0">
                <a:solidFill>
                  <a:schemeClr val="accent4"/>
                </a:solidFill>
                <a:latin typeface="Courier New" pitchFamily="34" charset="0"/>
                <a:ea typeface="Courier New" pitchFamily="34" charset="-122"/>
                <a:cs typeface="Courier New" pitchFamily="34" charset="-120"/>
              </a:rPr>
              <a:t>Dr_Alami   | ACCEPT recu -&gt; rendez-vous confirme</a:t>
            </a:r>
            <a:endParaRPr lang="en-US" sz="1400" dirty="0"/>
          </a:p>
          <a:p>
            <a:pPr marL="0" indent="0">
              <a:spcAft>
                <a:spcPts val="500"/>
              </a:spcAft>
              <a:buNone/>
            </a:pPr>
            <a:r>
              <a:rPr lang="en-US" sz="1400" dirty="0">
                <a:solidFill>
                  <a:schemeClr val="accent4"/>
                </a:solidFill>
                <a:latin typeface="Courier New" pitchFamily="34" charset="0"/>
                <a:ea typeface="Courier New" pitchFamily="34" charset="-122"/>
                <a:cs typeface="Courier New" pitchFamily="34" charset="-120"/>
              </a:rPr>
              <a:t>Patient749 | INFORM recu -&gt; rendez-vous Dr_Alami</a:t>
            </a:r>
            <a:endParaRPr lang="en-US" sz="1400" dirty="0"/>
          </a:p>
        </p:txBody>
      </p:sp>
      <p:sp>
        <p:nvSpPr>
          <p:cNvPr id="12" name="Text 10"/>
          <p:cNvSpPr txBox="1"/>
          <p:nvPr/>
        </p:nvSpPr>
        <p:spPr>
          <a:xfrm>
            <a:off x="548640" y="5212080"/>
            <a:ext cx="11091672" cy="457200"/>
          </a:xfrm>
          <a:prstGeom prst="rect">
            <a:avLst/>
          </a:prstGeom>
          <a:noFill/>
          <a:ln/>
        </p:spPr>
        <p:txBody>
          <a:bodyPr wrap="square" lIns="0" tIns="0" rIns="0" bIns="0" rtlCol="0" anchor="ctr"/>
          <a:lstStyle/>
          <a:p>
            <a:pPr marL="0" indent="0">
              <a:buNone/>
            </a:pPr>
            <a:r>
              <a:rPr lang="en-US" sz="1800" i="1" dirty="0">
                <a:solidFill>
                  <a:schemeClr val="accent1"/>
                </a:solidFill>
              </a:rPr>
              <a:t>Chaque nouveau patient lance une nouvelle négociation, en direct.</a:t>
            </a:r>
            <a:endParaRPr lang="en-US" sz="18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600" b="1" dirty="0">
                <a:solidFill>
                  <a:schemeClr val="tx2"/>
                </a:solidFill>
              </a:rPr>
              <a:t>Limites et perspectives</a:t>
            </a:r>
            <a:endParaRPr lang="en-US" sz="3600" dirty="0"/>
          </a:p>
        </p:txBody>
      </p:sp>
      <p:sp>
        <p:nvSpPr>
          <p:cNvPr id="3" name="Carte Limites actuelles"/>
          <p:cNvSpPr/>
          <p:nvPr/>
        </p:nvSpPr>
        <p:spPr>
          <a:xfrm>
            <a:off x="548640" y="1508760"/>
            <a:ext cx="5440680" cy="4114800"/>
          </a:xfrm>
          <a:prstGeom prst="roundRect">
            <a:avLst>
              <a:gd name="adj" fmla="val 3333"/>
            </a:avLst>
          </a:prstGeom>
          <a:solidFill>
            <a:schemeClr val="bg2"/>
          </a:solidFill>
          <a:ln/>
          <a:effectLst>
            <a:outerShdw blurRad="101600" dist="25400" dir="5400000" algn="bl" rotWithShape="0">
              <a:srgbClr val="000000">
                <a:alpha val="14000"/>
              </a:srgbClr>
            </a:outerShdw>
          </a:effectLst>
        </p:spPr>
      </p:sp>
      <p:sp>
        <p:nvSpPr>
          <p:cNvPr id="4" name="Cercle Limites actuelles"/>
          <p:cNvSpPr/>
          <p:nvPr/>
        </p:nvSpPr>
        <p:spPr>
          <a:xfrm>
            <a:off x="868680" y="1737360"/>
            <a:ext cx="640080" cy="640080"/>
          </a:xfrm>
          <a:prstGeom prst="ellipse">
            <a:avLst/>
          </a:prstGeom>
          <a:solidFill>
            <a:schemeClr val="accent3"/>
          </a:solidFill>
          <a:ln/>
        </p:spPr>
      </p:sp>
      <p:pic>
        <p:nvPicPr>
          <p:cNvPr id="5" name="Icône Limites actuelles" descr="Limites actuelles"/>
          <p:cNvPicPr>
            <a:picLocks noChangeAspect="1"/>
          </p:cNvPicPr>
          <p:nvPr/>
        </p:nvPicPr>
        <p:blipFill>
          <a:blip r:embed="rId3"/>
          <a:stretch>
            <a:fillRect/>
          </a:stretch>
        </p:blipFill>
        <p:spPr>
          <a:xfrm>
            <a:off x="1028700" y="1897380"/>
            <a:ext cx="320040" cy="320040"/>
          </a:xfrm>
          <a:prstGeom prst="rect">
            <a:avLst/>
          </a:prstGeom>
        </p:spPr>
      </p:pic>
      <p:sp>
        <p:nvSpPr>
          <p:cNvPr id="6" name="Text 3"/>
          <p:cNvSpPr txBox="1"/>
          <p:nvPr/>
        </p:nvSpPr>
        <p:spPr>
          <a:xfrm>
            <a:off x="1737360" y="1737360"/>
            <a:ext cx="3931920" cy="640080"/>
          </a:xfrm>
          <a:prstGeom prst="rect">
            <a:avLst/>
          </a:prstGeom>
          <a:noFill/>
          <a:ln/>
        </p:spPr>
        <p:txBody>
          <a:bodyPr wrap="square" lIns="0" tIns="0" rIns="0" bIns="0" rtlCol="0" anchor="ctr"/>
          <a:lstStyle/>
          <a:p>
            <a:pPr marL="0" indent="0">
              <a:buNone/>
            </a:pPr>
            <a:r>
              <a:rPr lang="en-US" sz="2400" b="1" dirty="0">
                <a:solidFill>
                  <a:schemeClr val="tx2"/>
                </a:solidFill>
              </a:rPr>
              <a:t>Limites actuelles</a:t>
            </a:r>
            <a:endParaRPr lang="en-US" sz="2400" dirty="0"/>
          </a:p>
        </p:txBody>
      </p:sp>
      <p:sp>
        <p:nvSpPr>
          <p:cNvPr id="7" name="Text 4"/>
          <p:cNvSpPr txBox="1"/>
          <p:nvPr/>
        </p:nvSpPr>
        <p:spPr>
          <a:xfrm>
            <a:off x="868680" y="2651760"/>
            <a:ext cx="4800600" cy="2834640"/>
          </a:xfrm>
          <a:prstGeom prst="rect">
            <a:avLst/>
          </a:prstGeom>
          <a:noFill/>
          <a:ln/>
        </p:spPr>
        <p:txBody>
          <a:bodyPr wrap="square" lIns="0" tIns="0" rIns="0" bIns="0" rtlCol="0" anchor="t"/>
          <a:lstStyle/>
          <a:p>
            <a:pPr marL="0" indent="0">
              <a:buNone/>
            </a:pPr>
            <a:r>
              <a:rPr lang="en-US" sz="1800" b="1" dirty="0">
                <a:solidFill>
                  <a:schemeClr val="tx2"/>
                </a:solidFill>
              </a:rPr>
              <a:t>Délai d'attente fixe</a:t>
            </a:r>
            <a:endParaRPr lang="en-US" sz="1800" dirty="0"/>
          </a:p>
          <a:p>
            <a:pPr marL="0" indent="0">
              <a:spcAft>
                <a:spcPts val="1400"/>
              </a:spcAft>
              <a:buNone/>
            </a:pPr>
            <a:r>
              <a:rPr lang="en-US" sz="1800" dirty="0">
                <a:solidFill>
                  <a:srgbClr val="000000"/>
                </a:solidFill>
              </a:rPr>
              <a:t>L'infirmier attend 3 secondes pour tous les cas.</a:t>
            </a:r>
            <a:endParaRPr lang="en-US" sz="1800" dirty="0"/>
          </a:p>
          <a:p>
            <a:pPr marL="0" indent="0">
              <a:buNone/>
            </a:pPr>
            <a:r>
              <a:rPr lang="en-US" sz="1800" b="1" dirty="0">
                <a:solidFill>
                  <a:schemeClr val="tx2"/>
                </a:solidFill>
              </a:rPr>
              <a:t>Triage par mots-clés</a:t>
            </a:r>
            <a:endParaRPr lang="en-US" sz="1800" dirty="0"/>
          </a:p>
          <a:p>
            <a:pPr marL="0" indent="0">
              <a:spcAft>
                <a:spcPts val="1400"/>
              </a:spcAft>
              <a:buNone/>
            </a:pPr>
            <a:r>
              <a:rPr lang="en-US" sz="1800" dirty="0">
                <a:solidFill>
                  <a:srgbClr val="000000"/>
                </a:solidFill>
              </a:rPr>
              <a:t>Un symptôme imprévu reçoit une urgence de 1.</a:t>
            </a:r>
            <a:endParaRPr lang="en-US" sz="1800" dirty="0"/>
          </a:p>
          <a:p>
            <a:pPr marL="0" indent="0">
              <a:buNone/>
            </a:pPr>
            <a:r>
              <a:rPr lang="en-US" sz="1800" b="1" dirty="0">
                <a:solidFill>
                  <a:schemeClr val="tx2"/>
                </a:solidFill>
              </a:rPr>
              <a:t>Pas de reprise en cas de panne</a:t>
            </a:r>
            <a:endParaRPr lang="en-US" sz="1800" dirty="0"/>
          </a:p>
          <a:p>
            <a:pPr marL="0" indent="0">
              <a:spcAft>
                <a:spcPts val="1400"/>
              </a:spcAft>
              <a:buNone/>
            </a:pPr>
            <a:r>
              <a:rPr lang="en-US" sz="1800" dirty="0">
                <a:solidFill>
                  <a:srgbClr val="000000"/>
                </a:solidFill>
              </a:rPr>
              <a:t>Si le docteur choisi tombe, le patient reçoit un échec.</a:t>
            </a:r>
            <a:endParaRPr lang="en-US" sz="1800" dirty="0"/>
          </a:p>
        </p:txBody>
      </p:sp>
      <p:sp>
        <p:nvSpPr>
          <p:cNvPr id="8" name="Carte Perspectives"/>
          <p:cNvSpPr/>
          <p:nvPr/>
        </p:nvSpPr>
        <p:spPr>
          <a:xfrm>
            <a:off x="6199632" y="1508760"/>
            <a:ext cx="5440680" cy="4114800"/>
          </a:xfrm>
          <a:prstGeom prst="roundRect">
            <a:avLst>
              <a:gd name="adj" fmla="val 3333"/>
            </a:avLst>
          </a:prstGeom>
          <a:solidFill>
            <a:schemeClr val="bg2"/>
          </a:solidFill>
          <a:ln/>
          <a:effectLst>
            <a:outerShdw blurRad="101600" dist="25400" dir="5400000" algn="bl" rotWithShape="0">
              <a:srgbClr val="000000">
                <a:alpha val="14000"/>
              </a:srgbClr>
            </a:outerShdw>
          </a:effectLst>
        </p:spPr>
      </p:sp>
      <p:sp>
        <p:nvSpPr>
          <p:cNvPr id="9" name="Cercle Perspectives"/>
          <p:cNvSpPr/>
          <p:nvPr/>
        </p:nvSpPr>
        <p:spPr>
          <a:xfrm>
            <a:off x="6519672" y="1737360"/>
            <a:ext cx="640080" cy="640080"/>
          </a:xfrm>
          <a:prstGeom prst="ellipse">
            <a:avLst/>
          </a:prstGeom>
          <a:solidFill>
            <a:schemeClr val="accent1"/>
          </a:solidFill>
          <a:ln/>
        </p:spPr>
      </p:sp>
      <p:pic>
        <p:nvPicPr>
          <p:cNvPr id="10" name="Icône Perspectives" descr="Perspectives"/>
          <p:cNvPicPr>
            <a:picLocks noChangeAspect="1"/>
          </p:cNvPicPr>
          <p:nvPr/>
        </p:nvPicPr>
        <p:blipFill>
          <a:blip r:embed="rId4"/>
          <a:stretch>
            <a:fillRect/>
          </a:stretch>
        </p:blipFill>
        <p:spPr>
          <a:xfrm>
            <a:off x="6679692" y="1897380"/>
            <a:ext cx="320040" cy="320040"/>
          </a:xfrm>
          <a:prstGeom prst="rect">
            <a:avLst/>
          </a:prstGeom>
        </p:spPr>
      </p:pic>
      <p:sp>
        <p:nvSpPr>
          <p:cNvPr id="11" name="Text 7"/>
          <p:cNvSpPr txBox="1"/>
          <p:nvPr/>
        </p:nvSpPr>
        <p:spPr>
          <a:xfrm>
            <a:off x="7388352" y="1737360"/>
            <a:ext cx="3931920" cy="640080"/>
          </a:xfrm>
          <a:prstGeom prst="rect">
            <a:avLst/>
          </a:prstGeom>
          <a:noFill/>
          <a:ln/>
        </p:spPr>
        <p:txBody>
          <a:bodyPr wrap="square" lIns="0" tIns="0" rIns="0" bIns="0" rtlCol="0" anchor="ctr"/>
          <a:lstStyle/>
          <a:p>
            <a:pPr marL="0" indent="0">
              <a:buNone/>
            </a:pPr>
            <a:r>
              <a:rPr lang="en-US" sz="2400" b="1" dirty="0">
                <a:solidFill>
                  <a:schemeClr val="tx2"/>
                </a:solidFill>
              </a:rPr>
              <a:t>Perspectives</a:t>
            </a:r>
            <a:endParaRPr lang="en-US" sz="2400" dirty="0"/>
          </a:p>
        </p:txBody>
      </p:sp>
      <p:sp>
        <p:nvSpPr>
          <p:cNvPr id="12" name="Text 8"/>
          <p:cNvSpPr txBox="1"/>
          <p:nvPr/>
        </p:nvSpPr>
        <p:spPr>
          <a:xfrm>
            <a:off x="6519672" y="2651760"/>
            <a:ext cx="4800600" cy="2834640"/>
          </a:xfrm>
          <a:prstGeom prst="rect">
            <a:avLst/>
          </a:prstGeom>
          <a:noFill/>
          <a:ln/>
        </p:spPr>
        <p:txBody>
          <a:bodyPr wrap="square" lIns="0" tIns="0" rIns="0" bIns="0" rtlCol="0" anchor="t"/>
          <a:lstStyle/>
          <a:p>
            <a:pPr marL="0" indent="0">
              <a:buNone/>
            </a:pPr>
            <a:r>
              <a:rPr lang="en-US" sz="1800" b="1" dirty="0">
                <a:solidFill>
                  <a:schemeClr val="tx2"/>
                </a:solidFill>
              </a:rPr>
              <a:t>Négociation en plusieurs tours</a:t>
            </a:r>
            <a:endParaRPr lang="en-US" sz="1800" dirty="0"/>
          </a:p>
          <a:p>
            <a:pPr marL="0" indent="0">
              <a:spcAft>
                <a:spcPts val="1400"/>
              </a:spcAft>
              <a:buNone/>
            </a:pPr>
            <a:r>
              <a:rPr lang="en-US" sz="1800" dirty="0">
                <a:solidFill>
                  <a:srgbClr val="000000"/>
                </a:solidFill>
              </a:rPr>
              <a:t>Demander aux docteurs un meilleur délai.</a:t>
            </a:r>
            <a:endParaRPr lang="en-US" sz="1800" dirty="0"/>
          </a:p>
          <a:p>
            <a:pPr marL="0" indent="0">
              <a:buNone/>
            </a:pPr>
            <a:r>
              <a:rPr lang="en-US" sz="1800" b="1" dirty="0">
                <a:solidFill>
                  <a:schemeClr val="tx2"/>
                </a:solidFill>
              </a:rPr>
              <a:t>Agent superviseur</a:t>
            </a:r>
            <a:endParaRPr lang="en-US" sz="1800" dirty="0"/>
          </a:p>
          <a:p>
            <a:pPr marL="0" indent="0">
              <a:spcAft>
                <a:spcPts val="1400"/>
              </a:spcAft>
              <a:buNone/>
            </a:pPr>
            <a:r>
              <a:rPr lang="en-US" sz="1800" dirty="0">
                <a:solidFill>
                  <a:srgbClr val="000000"/>
                </a:solidFill>
              </a:rPr>
              <a:t>Surveiller la plateforme et relancer les négociations échouées.</a:t>
            </a:r>
            <a:endParaRPr lang="en-US" sz="1800" dirty="0"/>
          </a:p>
          <a:p>
            <a:pPr marL="0" indent="0">
              <a:buNone/>
            </a:pPr>
            <a:r>
              <a:rPr lang="en-US" sz="1800" b="1" dirty="0">
                <a:solidFill>
                  <a:schemeClr val="tx2"/>
                </a:solidFill>
              </a:rPr>
              <a:t>Triage par apprentissage automatique</a:t>
            </a:r>
            <a:endParaRPr lang="en-US" sz="1800" dirty="0"/>
          </a:p>
          <a:p>
            <a:pPr marL="0" indent="0">
              <a:spcAft>
                <a:spcPts val="1400"/>
              </a:spcAft>
              <a:buNone/>
            </a:pPr>
            <a:r>
              <a:rPr lang="en-US" sz="1800" dirty="0">
                <a:solidFill>
                  <a:srgbClr val="000000"/>
                </a:solidFill>
              </a:rPr>
              <a:t>Estimer l'urgence à partir de données médicales.</a:t>
            </a:r>
            <a:endParaRPr lang="en-US" sz="1800" dirty="0"/>
          </a:p>
        </p:txBody>
      </p:sp>
      <p:sp>
        <p:nvSpPr>
          <p:cNvPr id="25" name="Slide Number Placeholder 0"/>
          <p:cNvSpPr>
            <a:spLocks noGrp="1"/>
          </p:cNvSpPr>
          <p:nvPr>
            <p:ph type="sldNum" sz="quarter" idx="4294967295"/>
          </p:nvPr>
        </p:nvSpPr>
        <p:spPr>
          <a:xfrm>
            <a:off x="11183112" y="6035040"/>
            <a:ext cx="457200" cy="365760"/>
          </a:xfrm>
          <a:prstGeom prst="rect">
            <a:avLst/>
          </a:prstGeom>
          <a:extLst>
            <a:ext uri="{C572A759-6A51-4108-AA02-DFA0A04FC94B}">
              <ma14:wrappingTextBoxFlag xmlns:ma14="http://schemas.microsoft.com/office/mac/drawingml/2011/main" xmlns="" val="0"/>
            </a:ext>
          </a:extLst>
        </p:spPr>
        <p:txBody>
          <a:bodyPr anchor="ctr"/>
          <a:lstStyle>
            <a:lvl1pPr>
              <a:defRPr sz="11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body" idx="101" hasCustomPrompt="1"/>
          </p:nvPr>
        </p:nvSpPr>
        <p:spPr>
          <a:xfrm>
            <a:off x="731520" y="1337481"/>
            <a:ext cx="9872790" cy="2091519"/>
          </a:xfrm>
          <a:prstGeom prst="rect">
            <a:avLst/>
          </a:prstGeom>
          <a:noFill/>
          <a:ln/>
        </p:spPr>
        <p:txBody>
          <a:bodyPr wrap="square" lIns="0" tIns="0" rIns="0" bIns="0" rtlCol="0" anchor="t"/>
          <a:lstStyle/>
          <a:p>
            <a:pPr marL="0" indent="0" algn="l">
              <a:buNone/>
            </a:pPr>
            <a:r>
              <a:rPr lang="en-US" sz="7200" dirty="0">
                <a:solidFill>
                  <a:schemeClr val="bg2"/>
                </a:solidFill>
              </a:rPr>
              <a:t>Merci de votre attention. Des questions ?</a:t>
            </a:r>
            <a:endParaRPr lang="en-US" sz="7200" dirty="0"/>
          </a:p>
        </p:txBody>
      </p:sp>
      <p:sp>
        <p:nvSpPr>
          <p:cNvPr id="4" name="Cercle Des agents autonomes"/>
          <p:cNvSpPr/>
          <p:nvPr/>
        </p:nvSpPr>
        <p:spPr>
          <a:xfrm>
            <a:off x="731520" y="4297680"/>
            <a:ext cx="822960" cy="822960"/>
          </a:xfrm>
          <a:prstGeom prst="ellipse">
            <a:avLst/>
          </a:prstGeom>
          <a:solidFill>
            <a:schemeClr val="bg1"/>
          </a:solidFill>
          <a:ln/>
        </p:spPr>
      </p:sp>
      <p:pic>
        <p:nvPicPr>
          <p:cNvPr id="5" name="Icône Des agents autonomes" descr="Des agents autonomes"/>
          <p:cNvPicPr>
            <a:picLocks noChangeAspect="1"/>
          </p:cNvPicPr>
          <p:nvPr/>
        </p:nvPicPr>
        <p:blipFill>
          <a:blip r:embed="rId3"/>
          <a:stretch>
            <a:fillRect/>
          </a:stretch>
        </p:blipFill>
        <p:spPr>
          <a:xfrm>
            <a:off x="937260" y="4503420"/>
            <a:ext cx="411480" cy="411480"/>
          </a:xfrm>
          <a:prstGeom prst="rect">
            <a:avLst/>
          </a:prstGeom>
        </p:spPr>
      </p:pic>
      <p:sp>
        <p:nvSpPr>
          <p:cNvPr id="6" name="Bilan 1"/>
          <p:cNvSpPr txBox="1"/>
          <p:nvPr/>
        </p:nvSpPr>
        <p:spPr>
          <a:xfrm>
            <a:off x="1737360" y="4297680"/>
            <a:ext cx="2468880" cy="822960"/>
          </a:xfrm>
          <a:prstGeom prst="rect">
            <a:avLst/>
          </a:prstGeom>
          <a:noFill/>
          <a:ln/>
        </p:spPr>
        <p:txBody>
          <a:bodyPr wrap="square" lIns="0" tIns="0" rIns="0" bIns="0" rtlCol="0" anchor="ctr"/>
          <a:lstStyle/>
          <a:p>
            <a:pPr marL="0" indent="0">
              <a:buNone/>
            </a:pPr>
            <a:r>
              <a:rPr lang="en-US" sz="1800" b="1" dirty="0">
                <a:solidFill>
                  <a:schemeClr val="bg1"/>
                </a:solidFill>
              </a:rPr>
              <a:t>Des agents</a:t>
            </a:r>
            <a:endParaRPr lang="en-US" sz="1800" dirty="0"/>
          </a:p>
          <a:p>
            <a:pPr marL="0" indent="0">
              <a:buNone/>
            </a:pPr>
            <a:r>
              <a:rPr lang="en-US" sz="1800" b="1" dirty="0">
                <a:solidFill>
                  <a:schemeClr val="bg1"/>
                </a:solidFill>
              </a:rPr>
              <a:t>autonomes</a:t>
            </a:r>
            <a:endParaRPr lang="en-US" sz="1800" dirty="0"/>
          </a:p>
        </p:txBody>
      </p:sp>
      <p:sp>
        <p:nvSpPr>
          <p:cNvPr id="7" name="Cercle Négociation Contract Net"/>
          <p:cNvSpPr/>
          <p:nvPr/>
        </p:nvSpPr>
        <p:spPr>
          <a:xfrm>
            <a:off x="4343400" y="4297680"/>
            <a:ext cx="822960" cy="822960"/>
          </a:xfrm>
          <a:prstGeom prst="ellipse">
            <a:avLst/>
          </a:prstGeom>
          <a:solidFill>
            <a:schemeClr val="bg1"/>
          </a:solidFill>
          <a:ln/>
        </p:spPr>
      </p:sp>
      <p:pic>
        <p:nvPicPr>
          <p:cNvPr id="8" name="Icône Négociation Contract Net" descr="Négociation Contract Net"/>
          <p:cNvPicPr>
            <a:picLocks noChangeAspect="1"/>
          </p:cNvPicPr>
          <p:nvPr/>
        </p:nvPicPr>
        <p:blipFill>
          <a:blip r:embed="rId4"/>
          <a:stretch>
            <a:fillRect/>
          </a:stretch>
        </p:blipFill>
        <p:spPr>
          <a:xfrm>
            <a:off x="4549140" y="4503420"/>
            <a:ext cx="411480" cy="411480"/>
          </a:xfrm>
          <a:prstGeom prst="rect">
            <a:avLst/>
          </a:prstGeom>
        </p:spPr>
      </p:pic>
      <p:sp>
        <p:nvSpPr>
          <p:cNvPr id="9" name="Bilan 2"/>
          <p:cNvSpPr txBox="1"/>
          <p:nvPr/>
        </p:nvSpPr>
        <p:spPr>
          <a:xfrm>
            <a:off x="5349240" y="4297680"/>
            <a:ext cx="2468880" cy="822960"/>
          </a:xfrm>
          <a:prstGeom prst="rect">
            <a:avLst/>
          </a:prstGeom>
          <a:noFill/>
          <a:ln/>
        </p:spPr>
        <p:txBody>
          <a:bodyPr wrap="square" lIns="0" tIns="0" rIns="0" bIns="0" rtlCol="0" anchor="ctr"/>
          <a:lstStyle/>
          <a:p>
            <a:pPr marL="0" indent="0">
              <a:buNone/>
            </a:pPr>
            <a:r>
              <a:rPr lang="en-US" sz="1800" b="1" dirty="0">
                <a:solidFill>
                  <a:schemeClr val="bg1"/>
                </a:solidFill>
              </a:rPr>
              <a:t>Négociation</a:t>
            </a:r>
            <a:endParaRPr lang="en-US" sz="1800" dirty="0"/>
          </a:p>
          <a:p>
            <a:pPr marL="0" indent="0">
              <a:buNone/>
            </a:pPr>
            <a:r>
              <a:rPr lang="en-US" sz="1800" b="1" dirty="0">
                <a:solidFill>
                  <a:schemeClr val="bg1"/>
                </a:solidFill>
              </a:rPr>
              <a:t>Contract Net</a:t>
            </a:r>
            <a:endParaRPr lang="en-US" sz="1800" dirty="0"/>
          </a:p>
        </p:txBody>
      </p:sp>
      <p:sp>
        <p:nvSpPr>
          <p:cNvPr id="10" name="Cercle Choix adapté à l'urgence"/>
          <p:cNvSpPr/>
          <p:nvPr/>
        </p:nvSpPr>
        <p:spPr>
          <a:xfrm>
            <a:off x="7955280" y="4297680"/>
            <a:ext cx="822960" cy="822960"/>
          </a:xfrm>
          <a:prstGeom prst="ellipse">
            <a:avLst/>
          </a:prstGeom>
          <a:solidFill>
            <a:schemeClr val="bg1"/>
          </a:solidFill>
          <a:ln/>
        </p:spPr>
      </p:sp>
      <p:pic>
        <p:nvPicPr>
          <p:cNvPr id="11" name="Icône Choix adapté à l'urgence" descr="Choix adapté à l'urgence"/>
          <p:cNvPicPr>
            <a:picLocks noChangeAspect="1"/>
          </p:cNvPicPr>
          <p:nvPr/>
        </p:nvPicPr>
        <p:blipFill>
          <a:blip r:embed="rId5"/>
          <a:stretch>
            <a:fillRect/>
          </a:stretch>
        </p:blipFill>
        <p:spPr>
          <a:xfrm>
            <a:off x="8161020" y="4503420"/>
            <a:ext cx="411480" cy="411480"/>
          </a:xfrm>
          <a:prstGeom prst="rect">
            <a:avLst/>
          </a:prstGeom>
        </p:spPr>
      </p:pic>
      <p:sp>
        <p:nvSpPr>
          <p:cNvPr id="12" name="Bilan 3"/>
          <p:cNvSpPr txBox="1"/>
          <p:nvPr/>
        </p:nvSpPr>
        <p:spPr>
          <a:xfrm>
            <a:off x="8961120" y="4297680"/>
            <a:ext cx="2468880" cy="822960"/>
          </a:xfrm>
          <a:prstGeom prst="rect">
            <a:avLst/>
          </a:prstGeom>
          <a:noFill/>
          <a:ln/>
        </p:spPr>
        <p:txBody>
          <a:bodyPr wrap="square" lIns="0" tIns="0" rIns="0" bIns="0" rtlCol="0" anchor="ctr"/>
          <a:lstStyle/>
          <a:p>
            <a:pPr marL="0" indent="0">
              <a:buNone/>
            </a:pPr>
            <a:r>
              <a:rPr lang="en-US" sz="1800" b="1" dirty="0">
                <a:solidFill>
                  <a:schemeClr val="bg1"/>
                </a:solidFill>
              </a:rPr>
              <a:t>Choix adapté</a:t>
            </a:r>
            <a:endParaRPr lang="en-US" sz="1800" dirty="0"/>
          </a:p>
          <a:p>
            <a:pPr marL="0" indent="0">
              <a:buNone/>
            </a:pPr>
            <a:r>
              <a:rPr lang="en-US" sz="1800" b="1" dirty="0">
                <a:solidFill>
                  <a:schemeClr val="bg1"/>
                </a:solidFill>
              </a:rPr>
              <a:t>à l'urgence</a:t>
            </a:r>
            <a:endParaRPr lang="en-US" sz="1800" dirty="0"/>
          </a:p>
        </p:txBody>
      </p:sp>
    </p:spTree>
  </p:cSld>
  <p:clrMapOvr>
    <a:masterClrMapping/>
  </p:clrMapOvr>
</p:sld>
</file>

<file path=ppt/theme/theme1.xml><?xml version="1.0" encoding="utf-8"?>
<a:theme xmlns:a="http://schemas.openxmlformats.org/drawingml/2006/main" name="Urgences SMA">
  <a:themeElements>
    <a:clrScheme name="Urgences SMA">
      <a:dk1>
        <a:srgbClr val="10262B"/>
      </a:dk1>
      <a:lt1>
        <a:srgbClr val="FFFFFF"/>
      </a:lt1>
      <a:dk2>
        <a:srgbClr val="0B3C49"/>
      </a:dk2>
      <a:lt2>
        <a:srgbClr val="EAF4F4"/>
      </a:lt2>
      <a:accent1>
        <a:srgbClr val="0E7C7B"/>
      </a:accent1>
      <a:accent2>
        <a:srgbClr val="D6452A"/>
      </a:accent2>
      <a:accent3>
        <a:srgbClr val="F2A541"/>
      </a:accent3>
      <a:accent4>
        <a:srgbClr val="5FB49C"/>
      </a:accent4>
      <a:accent5>
        <a:srgbClr val="5B6B76"/>
      </a:accent5>
      <a:accent6>
        <a:srgbClr val="2E4057"/>
      </a:accent6>
      <a:hlink>
        <a:srgbClr val="0E7C7B"/>
      </a:hlink>
      <a:folHlink>
        <a:srgbClr val="5B6B76"/>
      </a:folHlink>
    </a:clrScheme>
    <a:fontScheme name="Urgences SM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3485</TotalTime>
  <Words>2625</Words>
  <Application>Microsoft Office PowerPoint</Application>
  <PresentationFormat>Widescreen</PresentationFormat>
  <Paragraphs>204</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Cambria</vt:lpstr>
      <vt:lpstr>Courier New</vt:lpstr>
      <vt:lpstr>Inter 18pt SemiBold</vt:lpstr>
      <vt:lpstr>Plus Jakarta Sans</vt:lpstr>
      <vt:lpstr>Urgences SMA</vt:lpstr>
      <vt:lpstr>HopitalSMA : Gestion Intelligente des Urgences</vt:lpstr>
      <vt:lpstr>Les urgences hospitalières</vt:lpstr>
      <vt:lpstr>Le problème : choisir le bon docteur ?</vt:lpstr>
      <vt:lpstr>Pourquoi un système multi-agents ?</vt:lpstr>
      <vt:lpstr>Trois agents, trois rôles</vt:lpstr>
      <vt:lpstr>PowerPoint Presentation</vt:lpstr>
      <vt:lpstr>La négociation en 4 temps</vt:lpstr>
      <vt:lpstr>Qui est le meilleur choix ?</vt:lpstr>
      <vt:lpstr>Le plus rapide a perdu</vt:lpstr>
      <vt:lpstr>Démo en direct</vt:lpstr>
      <vt:lpstr>Limites et perspectives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Aux urgences, le médecin le plus rapide est-il le bon ?</dc:title>
  <dc:subject>PptxGenJS Presentation</dc:subject>
  <dc:creator>Équipe SMA Hôpital - Master IAA</dc:creator>
  <cp:lastModifiedBy>hamza oukhacha</cp:lastModifiedBy>
  <cp:revision>5</cp:revision>
  <dcterms:created xsi:type="dcterms:W3CDTF">2026-10-06T09:40:11Z</dcterms:created>
  <dcterms:modified xsi:type="dcterms:W3CDTF">2026-10-08T21:20:03Z</dcterms:modified>
</cp:coreProperties>
</file>